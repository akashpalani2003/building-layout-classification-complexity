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oboto"/>
      <p:regular r:id="rId37"/>
      <p:bold r:id="rId38"/>
      <p:italic r:id="rId39"/>
      <p:boldItalic r:id="rId40"/>
    </p:embeddedFont>
    <p:embeddedFont>
      <p:font typeface="Merriweather"/>
      <p:regular r:id="rId41"/>
      <p:bold r:id="rId42"/>
      <p:italic r:id="rId43"/>
      <p:boldItalic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E74941-8CCF-45F2-ACD3-E6F1142B8C53}">
  <a:tblStyle styleId="{C9E74941-8CCF-45F2-ACD3-E6F1142B8C5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42" Type="http://schemas.openxmlformats.org/officeDocument/2006/relationships/font" Target="fonts/Merriweather-bold.fntdata"/><Relationship Id="rId41" Type="http://schemas.openxmlformats.org/officeDocument/2006/relationships/font" Target="fonts/Merriweather-regular.fntdata"/><Relationship Id="rId22" Type="http://schemas.openxmlformats.org/officeDocument/2006/relationships/slide" Target="slides/slide16.xml"/><Relationship Id="rId44" Type="http://schemas.openxmlformats.org/officeDocument/2006/relationships/font" Target="fonts/Merriweather-boldItalic.fntdata"/><Relationship Id="rId21" Type="http://schemas.openxmlformats.org/officeDocument/2006/relationships/slide" Target="slides/slide15.xml"/><Relationship Id="rId43" Type="http://schemas.openxmlformats.org/officeDocument/2006/relationships/font" Target="fonts/Merriweather-italic.fntdata"/><Relationship Id="rId24" Type="http://schemas.openxmlformats.org/officeDocument/2006/relationships/slide" Target="slides/slide18.xml"/><Relationship Id="rId46" Type="http://schemas.openxmlformats.org/officeDocument/2006/relationships/font" Target="fonts/OpenSans-bold.fntdata"/><Relationship Id="rId23" Type="http://schemas.openxmlformats.org/officeDocument/2006/relationships/slide" Target="slides/slide17.xml"/><Relationship Id="rId45"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OpenSans-boldItalic.fntdata"/><Relationship Id="rId25" Type="http://schemas.openxmlformats.org/officeDocument/2006/relationships/slide" Target="slides/slide19.xml"/><Relationship Id="rId47" Type="http://schemas.openxmlformats.org/officeDocument/2006/relationships/font" Target="fonts/OpenSans-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ccdc251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ccdc251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cccdc251d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cccdc251d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ccdc251d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ccdc251d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c0356f19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cc0356f1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c0356f19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cc0356f19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cc0356f19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cc0356f19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c0356f1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c0356f1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c0356f19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cc0356f19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c0356f19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c0356f19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c0356f19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c0356f19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c0356f19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c0356f19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ccdc251d1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ccdc251d1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ccdc251d1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ccdc251d1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c0356f19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cc0356f19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ccdc251d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cccdc251d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cccdc251d1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cccdc251d1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c0356f19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cc0356f19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cccdc251d1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cccdc251d1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cce5ab7e4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cce5ab7e4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c0356f19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c0356f19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cc465307c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cc465307c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cc465307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cc465307c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cc4f51c7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cc4f51c7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cc4f51c7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cc4f51c7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cccdc251d1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cccdc251d1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cc465307c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cc465307c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cc4f51c70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cc4f51c70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cccdc251d1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cccdc251d1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cc4f51c70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cc4f51c70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0" Type="http://schemas.openxmlformats.org/officeDocument/2006/relationships/image" Target="../media/image27.jpg"/><Relationship Id="rId11" Type="http://schemas.openxmlformats.org/officeDocument/2006/relationships/image" Target="../media/image21.jpg"/><Relationship Id="rId10" Type="http://schemas.openxmlformats.org/officeDocument/2006/relationships/image" Target="../media/image17.jpg"/><Relationship Id="rId13" Type="http://schemas.openxmlformats.org/officeDocument/2006/relationships/image" Target="../media/image20.jpg"/><Relationship Id="rId12" Type="http://schemas.openxmlformats.org/officeDocument/2006/relationships/image" Target="../media/image19.jp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12.jpg"/><Relationship Id="rId9" Type="http://schemas.openxmlformats.org/officeDocument/2006/relationships/image" Target="../media/image11.jpg"/><Relationship Id="rId15" Type="http://schemas.openxmlformats.org/officeDocument/2006/relationships/image" Target="../media/image13.jpg"/><Relationship Id="rId14" Type="http://schemas.openxmlformats.org/officeDocument/2006/relationships/image" Target="../media/image22.jpg"/><Relationship Id="rId17" Type="http://schemas.openxmlformats.org/officeDocument/2006/relationships/image" Target="../media/image23.jpg"/><Relationship Id="rId16" Type="http://schemas.openxmlformats.org/officeDocument/2006/relationships/image" Target="../media/image24.jpg"/><Relationship Id="rId5" Type="http://schemas.openxmlformats.org/officeDocument/2006/relationships/image" Target="../media/image18.jpg"/><Relationship Id="rId19" Type="http://schemas.openxmlformats.org/officeDocument/2006/relationships/image" Target="../media/image26.jpg"/><Relationship Id="rId6" Type="http://schemas.openxmlformats.org/officeDocument/2006/relationships/image" Target="../media/image10.jpg"/><Relationship Id="rId18" Type="http://schemas.openxmlformats.org/officeDocument/2006/relationships/image" Target="../media/image25.jpg"/><Relationship Id="rId7" Type="http://schemas.openxmlformats.org/officeDocument/2006/relationships/image" Target="../media/image14.jpg"/><Relationship Id="rId8"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466700"/>
            <a:ext cx="8520600" cy="128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latin typeface="Arial"/>
                <a:ea typeface="Arial"/>
                <a:cs typeface="Arial"/>
                <a:sym typeface="Arial"/>
              </a:rPr>
              <a:t>DS203</a:t>
            </a:r>
            <a:endParaRPr b="1" sz="4000">
              <a:latin typeface="Arial"/>
              <a:ea typeface="Arial"/>
              <a:cs typeface="Arial"/>
              <a:sym typeface="Arial"/>
            </a:endParaRPr>
          </a:p>
          <a:p>
            <a:pPr indent="0" lvl="0" marL="0" rtl="0" algn="ctr">
              <a:spcBef>
                <a:spcPts val="0"/>
              </a:spcBef>
              <a:spcAft>
                <a:spcPts val="0"/>
              </a:spcAft>
              <a:buNone/>
            </a:pPr>
            <a:r>
              <a:rPr b="1" lang="en" sz="4000">
                <a:latin typeface="Arial"/>
                <a:ea typeface="Arial"/>
                <a:cs typeface="Arial"/>
                <a:sym typeface="Arial"/>
              </a:rPr>
              <a:t>Programming for Data Science</a:t>
            </a:r>
            <a:endParaRPr b="1" sz="4000">
              <a:latin typeface="Arial"/>
              <a:ea typeface="Arial"/>
              <a:cs typeface="Arial"/>
              <a:sym typeface="Arial"/>
            </a:endParaRPr>
          </a:p>
        </p:txBody>
      </p:sp>
      <p:sp>
        <p:nvSpPr>
          <p:cNvPr id="65" name="Google Shape;65;p13"/>
          <p:cNvSpPr txBox="1"/>
          <p:nvPr>
            <p:ph idx="1" type="subTitle"/>
          </p:nvPr>
        </p:nvSpPr>
        <p:spPr>
          <a:xfrm>
            <a:off x="384725" y="2043146"/>
            <a:ext cx="4242600" cy="10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t>Exercise 7</a:t>
            </a:r>
            <a:endParaRPr b="1" sz="3000"/>
          </a:p>
          <a:p>
            <a:pPr indent="0" lvl="0" marL="0" rtl="0" algn="l">
              <a:spcBef>
                <a:spcPts val="0"/>
              </a:spcBef>
              <a:spcAft>
                <a:spcPts val="0"/>
              </a:spcAft>
              <a:buNone/>
            </a:pPr>
            <a:r>
              <a:rPr b="1" lang="en" sz="3000"/>
              <a:t>Project</a:t>
            </a:r>
            <a:endParaRPr b="1" sz="3000"/>
          </a:p>
        </p:txBody>
      </p:sp>
      <p:sp>
        <p:nvSpPr>
          <p:cNvPr id="66" name="Google Shape;66;p13"/>
          <p:cNvSpPr txBox="1"/>
          <p:nvPr/>
        </p:nvSpPr>
        <p:spPr>
          <a:xfrm>
            <a:off x="7033975" y="3353175"/>
            <a:ext cx="3027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67" name="Google Shape;67;p13"/>
          <p:cNvSpPr txBox="1"/>
          <p:nvPr/>
        </p:nvSpPr>
        <p:spPr>
          <a:xfrm>
            <a:off x="4383900" y="3645375"/>
            <a:ext cx="4760100" cy="14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GROUP 9</a:t>
            </a:r>
            <a:endParaRPr b="1" sz="18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Roboto"/>
                <a:ea typeface="Roboto"/>
                <a:cs typeface="Roboto"/>
                <a:sym typeface="Roboto"/>
              </a:rPr>
              <a:t>21D170016: Garv Gupta</a:t>
            </a:r>
            <a:endParaRPr b="1" sz="18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Roboto"/>
                <a:ea typeface="Roboto"/>
                <a:cs typeface="Roboto"/>
                <a:sym typeface="Roboto"/>
              </a:rPr>
              <a:t>21D170046: Vishesh Kamani</a:t>
            </a:r>
            <a:endParaRPr b="1" sz="18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Roboto"/>
                <a:ea typeface="Roboto"/>
                <a:cs typeface="Roboto"/>
                <a:sym typeface="Roboto"/>
              </a:rPr>
              <a:t>21D171001: Akash Sansagu Palaniswami</a:t>
            </a:r>
            <a:endParaRPr b="1" sz="1800">
              <a:solidFill>
                <a:schemeClr val="dk1"/>
              </a:solidFill>
              <a:latin typeface="Roboto"/>
              <a:ea typeface="Roboto"/>
              <a:cs typeface="Roboto"/>
              <a:sym typeface="Roboto"/>
            </a:endParaRPr>
          </a:p>
          <a:p>
            <a:pPr indent="0" lvl="0" marL="0" rtl="0" algn="l">
              <a:spcBef>
                <a:spcPts val="0"/>
              </a:spcBef>
              <a:spcAft>
                <a:spcPts val="0"/>
              </a:spcAft>
              <a:buNone/>
            </a:pPr>
            <a:r>
              <a:rPr b="1" lang="en" sz="1800">
                <a:solidFill>
                  <a:schemeClr val="dk1"/>
                </a:solidFill>
                <a:latin typeface="Roboto"/>
                <a:ea typeface="Roboto"/>
                <a:cs typeface="Roboto"/>
                <a:sym typeface="Roboto"/>
              </a:rPr>
              <a:t>21D180011: </a:t>
            </a:r>
            <a:r>
              <a:rPr b="1" lang="en" sz="1800">
                <a:solidFill>
                  <a:schemeClr val="dk1"/>
                </a:solidFill>
                <a:latin typeface="Roboto"/>
                <a:ea typeface="Roboto"/>
                <a:cs typeface="Roboto"/>
                <a:sym typeface="Roboto"/>
              </a:rPr>
              <a:t>Faiz Nawaz</a:t>
            </a:r>
            <a:endParaRPr b="1" sz="180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Problem Statement</a:t>
            </a:r>
            <a:endParaRPr b="1"/>
          </a:p>
        </p:txBody>
      </p:sp>
      <p:sp>
        <p:nvSpPr>
          <p:cNvPr id="73" name="Google Shape;73;p14"/>
          <p:cNvSpPr txBox="1"/>
          <p:nvPr>
            <p:ph idx="4294967295" type="body"/>
          </p:nvPr>
        </p:nvSpPr>
        <p:spPr>
          <a:xfrm>
            <a:off x="390075" y="1460500"/>
            <a:ext cx="8421000" cy="356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000">
                <a:solidFill>
                  <a:schemeClr val="dk1"/>
                </a:solidFill>
              </a:rPr>
              <a:t>An architecture firm has digitized its building layouts into 640x480 bitmap images to enhance productivity and adapt to customer needs. They aim to use data science and machine learning to categorize designs into families based on structural shapes, deepening design insights and standardizing processes through templates.</a:t>
            </a:r>
            <a:endParaRPr b="1"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Problem Statement</a:t>
            </a:r>
            <a:endParaRPr b="1"/>
          </a:p>
        </p:txBody>
      </p:sp>
      <p:sp>
        <p:nvSpPr>
          <p:cNvPr id="79" name="Google Shape;79;p15"/>
          <p:cNvSpPr txBox="1"/>
          <p:nvPr>
            <p:ph idx="4294967295" type="body"/>
          </p:nvPr>
        </p:nvSpPr>
        <p:spPr>
          <a:xfrm>
            <a:off x="390075" y="1460500"/>
            <a:ext cx="8421000" cy="356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chemeClr val="dk1"/>
                </a:solidFill>
              </a:rPr>
              <a:t>Classify the complexity of their building layouts. Perform an analysis to develop criteria for categorizing layouts into Low, Medium, and High Complexity. Utilize analytical techniques to establish these criteria and classify the layouts, enhancing design precision and efficiency.</a:t>
            </a:r>
            <a:endParaRPr b="1" sz="2000">
              <a:solidFill>
                <a:schemeClr val="dk1"/>
              </a:solidFill>
            </a:endParaRPr>
          </a:p>
          <a:p>
            <a:pPr indent="0" lvl="0" marL="0" rtl="0" algn="l">
              <a:spcBef>
                <a:spcPts val="1200"/>
              </a:spcBef>
              <a:spcAft>
                <a:spcPts val="1200"/>
              </a:spcAft>
              <a:buNone/>
            </a:pPr>
            <a:r>
              <a:t/>
            </a:r>
            <a:endParaRPr b="1"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Problem Statement</a:t>
            </a:r>
            <a:endParaRPr b="1"/>
          </a:p>
        </p:txBody>
      </p:sp>
      <p:sp>
        <p:nvSpPr>
          <p:cNvPr id="85" name="Google Shape;85;p16"/>
          <p:cNvSpPr txBox="1"/>
          <p:nvPr>
            <p:ph idx="4294967295" type="body"/>
          </p:nvPr>
        </p:nvSpPr>
        <p:spPr>
          <a:xfrm>
            <a:off x="390075" y="1460500"/>
            <a:ext cx="8421000" cy="356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chemeClr val="dk1"/>
                </a:solidFill>
              </a:rPr>
              <a:t>Accelerate the design process by retrieving relevant prior layouts based on parameters such as the dimensions of the tight-fitting box, layout area, and permissible complexity. By specifying these parameters, we should predict and retrieve designs from the most relevant families.</a:t>
            </a:r>
            <a:endParaRPr b="1" sz="2000">
              <a:solidFill>
                <a:schemeClr val="dk1"/>
              </a:solidFill>
            </a:endParaRPr>
          </a:p>
          <a:p>
            <a:pPr indent="0" lvl="0" marL="0" rtl="0" algn="l">
              <a:spcBef>
                <a:spcPts val="1200"/>
              </a:spcBef>
              <a:spcAft>
                <a:spcPts val="1200"/>
              </a:spcAft>
              <a:buNone/>
            </a:pPr>
            <a:r>
              <a:t/>
            </a:r>
            <a:endParaRPr b="1"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25" y="500925"/>
            <a:ext cx="3706500" cy="2508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3500"/>
              <a:t>Our Approach</a:t>
            </a:r>
            <a:endParaRPr b="1" sz="3500"/>
          </a:p>
        </p:txBody>
      </p:sp>
      <p:sp>
        <p:nvSpPr>
          <p:cNvPr id="91" name="Google Shape;91;p17"/>
          <p:cNvSpPr txBox="1"/>
          <p:nvPr>
            <p:ph idx="1" type="body"/>
          </p:nvPr>
        </p:nvSpPr>
        <p:spPr>
          <a:xfrm>
            <a:off x="4318000" y="0"/>
            <a:ext cx="4826100" cy="51435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b="1" lang="en" sz="1700"/>
              <a:t>Use OpenCV to extract key features from layout images. Apply clustering algorithms to classify images into families.</a:t>
            </a:r>
            <a:endParaRPr b="1" sz="1700"/>
          </a:p>
          <a:p>
            <a:pPr indent="0" lvl="0" marL="457200" rtl="0" algn="l">
              <a:spcBef>
                <a:spcPts val="1200"/>
              </a:spcBef>
              <a:spcAft>
                <a:spcPts val="0"/>
              </a:spcAft>
              <a:buNone/>
            </a:pPr>
            <a:r>
              <a:t/>
            </a:r>
            <a:endParaRPr b="1" sz="400"/>
          </a:p>
          <a:p>
            <a:pPr indent="-336550" lvl="0" marL="457200" rtl="0" algn="l">
              <a:spcBef>
                <a:spcPts val="1200"/>
              </a:spcBef>
              <a:spcAft>
                <a:spcPts val="0"/>
              </a:spcAft>
              <a:buSzPts val="1700"/>
              <a:buChar char="●"/>
            </a:pPr>
            <a:r>
              <a:rPr b="1" lang="en" sz="1700"/>
              <a:t>Weights to features and calculate complexity scores using these weights. Define thresholds for low, medium, and high complexity to categorize designs effectively.</a:t>
            </a:r>
            <a:endParaRPr b="1" sz="1700"/>
          </a:p>
          <a:p>
            <a:pPr indent="0" lvl="0" marL="457200" rtl="0" algn="l">
              <a:spcBef>
                <a:spcPts val="1200"/>
              </a:spcBef>
              <a:spcAft>
                <a:spcPts val="0"/>
              </a:spcAft>
              <a:buNone/>
            </a:pPr>
            <a:r>
              <a:t/>
            </a:r>
            <a:endParaRPr b="1" sz="400"/>
          </a:p>
          <a:p>
            <a:pPr indent="-336550" lvl="0" marL="457200" rtl="0" algn="l">
              <a:spcBef>
                <a:spcPts val="1200"/>
              </a:spcBef>
              <a:spcAft>
                <a:spcPts val="0"/>
              </a:spcAft>
              <a:buSzPts val="1700"/>
              <a:buChar char="●"/>
            </a:pPr>
            <a:r>
              <a:rPr b="1" lang="en" sz="1700"/>
              <a:t>Train a machine learning model using tight-fitting box, layout area, and complexity for classification and use the model to predict relevant design families</a:t>
            </a:r>
            <a:endParaRPr b="1"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25" y="500925"/>
            <a:ext cx="3706500" cy="2508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sz="4000"/>
              <a:t>Features</a:t>
            </a:r>
            <a:endParaRPr b="1" sz="4000"/>
          </a:p>
          <a:p>
            <a:pPr indent="0" lvl="0" marL="0" rtl="0" algn="ctr">
              <a:spcBef>
                <a:spcPts val="0"/>
              </a:spcBef>
              <a:spcAft>
                <a:spcPts val="0"/>
              </a:spcAft>
              <a:buNone/>
            </a:pPr>
            <a:r>
              <a:rPr b="1" lang="en" sz="4000"/>
              <a:t>Deployed</a:t>
            </a:r>
            <a:endParaRPr b="1" sz="4000"/>
          </a:p>
          <a:p>
            <a:pPr indent="0" lvl="0" marL="0" rtl="0" algn="ctr">
              <a:spcBef>
                <a:spcPts val="0"/>
              </a:spcBef>
              <a:spcAft>
                <a:spcPts val="0"/>
              </a:spcAft>
              <a:buNone/>
            </a:pPr>
            <a:r>
              <a:rPr b="1" lang="en" sz="4000"/>
              <a:t>For Clustering</a:t>
            </a:r>
            <a:endParaRPr b="1" sz="4000"/>
          </a:p>
        </p:txBody>
      </p:sp>
      <p:sp>
        <p:nvSpPr>
          <p:cNvPr id="97" name="Google Shape;97;p18"/>
          <p:cNvSpPr txBox="1"/>
          <p:nvPr>
            <p:ph idx="1" type="body"/>
          </p:nvPr>
        </p:nvSpPr>
        <p:spPr>
          <a:xfrm>
            <a:off x="4321500" y="609800"/>
            <a:ext cx="4822500" cy="5143500"/>
          </a:xfrm>
          <a:prstGeom prst="rect">
            <a:avLst/>
          </a:prstGeom>
        </p:spPr>
        <p:txBody>
          <a:bodyPr anchorCtr="0" anchor="t" bIns="91425" lIns="91425" spcFirstLastPara="1" rIns="91425" wrap="square" tIns="91425">
            <a:normAutofit/>
          </a:bodyPr>
          <a:lstStyle/>
          <a:p>
            <a:pPr indent="-355600" lvl="0" marL="457200" rtl="0" algn="l">
              <a:lnSpc>
                <a:spcPct val="200000"/>
              </a:lnSpc>
              <a:spcBef>
                <a:spcPts val="0"/>
              </a:spcBef>
              <a:spcAft>
                <a:spcPts val="0"/>
              </a:spcAft>
              <a:buSzPts val="2000"/>
              <a:buChar char="❖"/>
            </a:pPr>
            <a:r>
              <a:rPr b="1" lang="en" sz="2000"/>
              <a:t>Variance of Internal Angles</a:t>
            </a:r>
            <a:endParaRPr b="1" sz="2000"/>
          </a:p>
          <a:p>
            <a:pPr indent="-355600" lvl="0" marL="457200" rtl="0" algn="l">
              <a:lnSpc>
                <a:spcPct val="200000"/>
              </a:lnSpc>
              <a:spcBef>
                <a:spcPts val="0"/>
              </a:spcBef>
              <a:spcAft>
                <a:spcPts val="0"/>
              </a:spcAft>
              <a:buSzPts val="2000"/>
              <a:buChar char="❖"/>
            </a:pPr>
            <a:r>
              <a:rPr b="1" lang="en" sz="2000"/>
              <a:t>Variance of Side Length</a:t>
            </a:r>
            <a:endParaRPr b="1" sz="2000"/>
          </a:p>
          <a:p>
            <a:pPr indent="-355600" lvl="0" marL="457200" rtl="0" algn="l">
              <a:lnSpc>
                <a:spcPct val="200000"/>
              </a:lnSpc>
              <a:spcBef>
                <a:spcPts val="0"/>
              </a:spcBef>
              <a:spcAft>
                <a:spcPts val="0"/>
              </a:spcAft>
              <a:buSzPts val="2000"/>
              <a:buChar char="❖"/>
            </a:pPr>
            <a:r>
              <a:rPr b="1" lang="en" sz="2000"/>
              <a:t>Number of Corners</a:t>
            </a:r>
            <a:endParaRPr b="1" sz="2000"/>
          </a:p>
          <a:p>
            <a:pPr indent="-355600" lvl="0" marL="457200" rtl="0" algn="l">
              <a:lnSpc>
                <a:spcPct val="200000"/>
              </a:lnSpc>
              <a:spcBef>
                <a:spcPts val="0"/>
              </a:spcBef>
              <a:spcAft>
                <a:spcPts val="0"/>
              </a:spcAft>
              <a:buSzPts val="2000"/>
              <a:buChar char="❖"/>
            </a:pPr>
            <a:r>
              <a:rPr b="1" lang="en" sz="2000"/>
              <a:t>Number of Concave Corners</a:t>
            </a:r>
            <a:endParaRPr b="1" sz="2000"/>
          </a:p>
          <a:p>
            <a:pPr indent="-355600" lvl="0" marL="457200" rtl="0" algn="l">
              <a:lnSpc>
                <a:spcPct val="200000"/>
              </a:lnSpc>
              <a:spcBef>
                <a:spcPts val="0"/>
              </a:spcBef>
              <a:spcAft>
                <a:spcPts val="0"/>
              </a:spcAft>
              <a:buSzPts val="2000"/>
              <a:buChar char="❖"/>
            </a:pPr>
            <a:r>
              <a:rPr b="1" lang="en" sz="2000"/>
              <a:t>Average Distance from Centroid</a:t>
            </a:r>
            <a:endParaRPr b="1" sz="2000"/>
          </a:p>
          <a:p>
            <a:pPr indent="-355600" lvl="0" marL="457200" rtl="0" algn="l">
              <a:lnSpc>
                <a:spcPct val="200000"/>
              </a:lnSpc>
              <a:spcBef>
                <a:spcPts val="0"/>
              </a:spcBef>
              <a:spcAft>
                <a:spcPts val="0"/>
              </a:spcAft>
              <a:buSzPts val="2000"/>
              <a:buChar char="❖"/>
            </a:pPr>
            <a:r>
              <a:rPr b="1" lang="en" sz="2000"/>
              <a:t>Variance of Distance from Centroid</a:t>
            </a:r>
            <a:endParaRPr b="1" sz="2000"/>
          </a:p>
          <a:p>
            <a:pPr indent="0" lvl="0" marL="457200" rtl="0" algn="l">
              <a:spcBef>
                <a:spcPts val="1200"/>
              </a:spcBef>
              <a:spcAft>
                <a:spcPts val="1200"/>
              </a:spcAft>
              <a:buNone/>
            </a:pPr>
            <a:r>
              <a:t/>
            </a:r>
            <a:endParaRPr b="1"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25" y="187950"/>
            <a:ext cx="3127500" cy="1829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3500"/>
              <a:t>Counting Number of Corners</a:t>
            </a:r>
            <a:endParaRPr b="1" sz="3500"/>
          </a:p>
        </p:txBody>
      </p:sp>
      <p:sp>
        <p:nvSpPr>
          <p:cNvPr id="103" name="Google Shape;103;p19"/>
          <p:cNvSpPr txBox="1"/>
          <p:nvPr>
            <p:ph idx="1" type="body"/>
          </p:nvPr>
        </p:nvSpPr>
        <p:spPr>
          <a:xfrm>
            <a:off x="311725" y="2119375"/>
            <a:ext cx="3127500" cy="27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We are using the Shi-Tomasi Corner Detector to get the corners. It has been implemented using goodFeaturesToTrack by OpenCV</a:t>
            </a:r>
            <a:endParaRPr sz="1800"/>
          </a:p>
          <a:p>
            <a:pPr indent="0" lvl="0" marL="0" rtl="0" algn="l">
              <a:spcBef>
                <a:spcPts val="1200"/>
              </a:spcBef>
              <a:spcAft>
                <a:spcPts val="1200"/>
              </a:spcAft>
              <a:buNone/>
            </a:pPr>
            <a:r>
              <a:rPr lang="en" sz="1800"/>
              <a:t>Example: image 0783 gives us </a:t>
            </a:r>
            <a:r>
              <a:rPr b="1" lang="en" sz="1800" u="sng"/>
              <a:t>22 corners</a:t>
            </a:r>
            <a:endParaRPr b="1" sz="1800" u="sng"/>
          </a:p>
        </p:txBody>
      </p:sp>
      <p:pic>
        <p:nvPicPr>
          <p:cNvPr id="104" name="Google Shape;104;p19"/>
          <p:cNvPicPr preferRelativeResize="0"/>
          <p:nvPr/>
        </p:nvPicPr>
        <p:blipFill>
          <a:blip r:embed="rId3">
            <a:alphaModFix/>
          </a:blip>
          <a:stretch>
            <a:fillRect/>
          </a:stretch>
        </p:blipFill>
        <p:spPr>
          <a:xfrm>
            <a:off x="3781750" y="557125"/>
            <a:ext cx="5432686" cy="4046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46200"/>
            <a:ext cx="3127500" cy="7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000"/>
              <a:t>Other Features</a:t>
            </a:r>
            <a:endParaRPr b="1" sz="3000"/>
          </a:p>
        </p:txBody>
      </p:sp>
      <p:sp>
        <p:nvSpPr>
          <p:cNvPr id="110" name="Google Shape;110;p20"/>
          <p:cNvSpPr txBox="1"/>
          <p:nvPr>
            <p:ph idx="1" type="body"/>
          </p:nvPr>
        </p:nvSpPr>
        <p:spPr>
          <a:xfrm>
            <a:off x="-85950" y="1082825"/>
            <a:ext cx="3922800" cy="431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The corners are detected using Shi-Tomasi</a:t>
            </a:r>
            <a:endParaRPr sz="1800"/>
          </a:p>
          <a:p>
            <a:pPr indent="-342900" lvl="0" marL="457200" rtl="0" algn="l">
              <a:spcBef>
                <a:spcPts val="0"/>
              </a:spcBef>
              <a:spcAft>
                <a:spcPts val="0"/>
              </a:spcAft>
              <a:buSzPts val="1800"/>
              <a:buChar char="●"/>
            </a:pPr>
            <a:r>
              <a:rPr lang="en" sz="1800"/>
              <a:t>The interior angle and side length information is extracted using OpenCV to make a contour</a:t>
            </a:r>
            <a:endParaRPr sz="1800"/>
          </a:p>
          <a:p>
            <a:pPr indent="-342900" lvl="0" marL="457200" rtl="0" algn="l">
              <a:spcBef>
                <a:spcPts val="0"/>
              </a:spcBef>
              <a:spcAft>
                <a:spcPts val="0"/>
              </a:spcAft>
              <a:buSzPts val="1800"/>
              <a:buChar char="●"/>
            </a:pPr>
            <a:r>
              <a:rPr lang="en" sz="1800"/>
              <a:t>Canny edge detection is used to get the centroid data</a:t>
            </a:r>
            <a:endParaRPr sz="18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graphicFrame>
        <p:nvGraphicFramePr>
          <p:cNvPr id="111" name="Google Shape;111;p20"/>
          <p:cNvGraphicFramePr/>
          <p:nvPr/>
        </p:nvGraphicFramePr>
        <p:xfrm>
          <a:off x="4436150" y="2236925"/>
          <a:ext cx="3000000" cy="3000000"/>
        </p:xfrm>
        <a:graphic>
          <a:graphicData uri="http://schemas.openxmlformats.org/drawingml/2006/table">
            <a:tbl>
              <a:tblPr>
                <a:noFill/>
                <a:tableStyleId>{C9E74941-8CCF-45F2-ACD3-E6F1142B8C53}</a:tableStyleId>
              </a:tblPr>
              <a:tblGrid>
                <a:gridCol w="2492525"/>
                <a:gridCol w="1177725"/>
              </a:tblGrid>
              <a:tr h="350250">
                <a:tc>
                  <a:txBody>
                    <a:bodyPr/>
                    <a:lstStyle/>
                    <a:p>
                      <a:pPr indent="0" lvl="0" marL="0" rtl="0" algn="ctr">
                        <a:spcBef>
                          <a:spcPts val="0"/>
                        </a:spcBef>
                        <a:spcAft>
                          <a:spcPts val="0"/>
                        </a:spcAft>
                        <a:buNone/>
                      </a:pPr>
                      <a:r>
                        <a:rPr b="1" lang="en" u="sng"/>
                        <a:t>Features for Image 0284</a:t>
                      </a:r>
                      <a:endParaRPr b="1" u="sng"/>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u="sng"/>
                        <a:t>Value</a:t>
                      </a:r>
                      <a:endParaRPr b="1" u="sng"/>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Std of Angles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71.79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Std of Sides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83.13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No.</a:t>
                      </a:r>
                      <a:r>
                        <a:rPr lang="en"/>
                        <a:t> of Corners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No.</a:t>
                      </a:r>
                      <a:r>
                        <a:rPr lang="en"/>
                        <a:t> of Concave Corners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Avg Distance from Centroid</a:t>
                      </a:r>
                      <a:endParaRPr/>
                    </a:p>
                  </a:txBody>
                  <a:tcPr marT="91425" marB="91425" marR="91425" marL="91425"/>
                </a:tc>
                <a:tc>
                  <a:txBody>
                    <a:bodyPr/>
                    <a:lstStyle/>
                    <a:p>
                      <a:pPr indent="0" lvl="0" marL="0" rtl="0" algn="ctr">
                        <a:lnSpc>
                          <a:spcPct val="115000"/>
                        </a:lnSpc>
                        <a:spcBef>
                          <a:spcPts val="0"/>
                        </a:spcBef>
                        <a:spcAft>
                          <a:spcPts val="0"/>
                        </a:spcAft>
                        <a:buNone/>
                      </a:pPr>
                      <a:r>
                        <a:rPr lang="en"/>
                        <a:t>203.58</a:t>
                      </a:r>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0250">
                <a:tc>
                  <a:txBody>
                    <a:bodyPr/>
                    <a:lstStyle/>
                    <a:p>
                      <a:pPr indent="0" lvl="0" marL="0" rtl="0" algn="ctr">
                        <a:spcBef>
                          <a:spcPts val="0"/>
                        </a:spcBef>
                        <a:spcAft>
                          <a:spcPts val="0"/>
                        </a:spcAft>
                        <a:buNone/>
                      </a:pPr>
                      <a:r>
                        <a:rPr lang="en"/>
                        <a:t>Std Distance from Centroid</a:t>
                      </a:r>
                      <a:endParaRPr/>
                    </a:p>
                  </a:txBody>
                  <a:tcPr marT="91425" marB="91425" marR="91425" marL="91425"/>
                </a:tc>
                <a:tc>
                  <a:txBody>
                    <a:bodyPr/>
                    <a:lstStyle/>
                    <a:p>
                      <a:pPr indent="0" lvl="0" marL="0" rtl="0" algn="ctr">
                        <a:lnSpc>
                          <a:spcPct val="115000"/>
                        </a:lnSpc>
                        <a:spcBef>
                          <a:spcPts val="0"/>
                        </a:spcBef>
                        <a:spcAft>
                          <a:spcPts val="0"/>
                        </a:spcAft>
                        <a:buNone/>
                      </a:pPr>
                      <a:r>
                        <a:rPr lang="en"/>
                        <a:t>35.68</a:t>
                      </a:r>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12" name="Google Shape;112;p20"/>
          <p:cNvPicPr preferRelativeResize="0"/>
          <p:nvPr/>
        </p:nvPicPr>
        <p:blipFill>
          <a:blip r:embed="rId3">
            <a:alphaModFix/>
          </a:blip>
          <a:stretch>
            <a:fillRect/>
          </a:stretch>
        </p:blipFill>
        <p:spPr>
          <a:xfrm>
            <a:off x="5046413" y="146200"/>
            <a:ext cx="2449721" cy="1932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How are all the features extracted?</a:t>
            </a:r>
            <a:endParaRPr b="1"/>
          </a:p>
        </p:txBody>
      </p:sp>
      <p:sp>
        <p:nvSpPr>
          <p:cNvPr id="118" name="Google Shape;118;p21"/>
          <p:cNvSpPr txBox="1"/>
          <p:nvPr/>
        </p:nvSpPr>
        <p:spPr>
          <a:xfrm>
            <a:off x="0" y="1454375"/>
            <a:ext cx="4791000" cy="3334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Number of corners in image are ascertained by approximating the </a:t>
            </a:r>
            <a:r>
              <a:rPr lang="en" sz="1800">
                <a:solidFill>
                  <a:schemeClr val="dk2"/>
                </a:solidFill>
                <a:latin typeface="Roboto"/>
                <a:ea typeface="Roboto"/>
                <a:cs typeface="Roboto"/>
                <a:sym typeface="Roboto"/>
              </a:rPr>
              <a:t>contour</a:t>
            </a:r>
            <a:r>
              <a:rPr lang="en" sz="1800">
                <a:solidFill>
                  <a:schemeClr val="dk2"/>
                </a:solidFill>
                <a:latin typeface="Roboto"/>
                <a:ea typeface="Roboto"/>
                <a:cs typeface="Roboto"/>
                <a:sym typeface="Roboto"/>
              </a:rPr>
              <a:t> using approxPolyDP and finding its length</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For the standard deviation of angle we take the coordinates of 3 points and find the angle using the cross product of the vectors while also adjusting in case of concave angles.</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19" name="Google Shape;119;p21"/>
          <p:cNvPicPr preferRelativeResize="0"/>
          <p:nvPr/>
        </p:nvPicPr>
        <p:blipFill>
          <a:blip r:embed="rId3">
            <a:alphaModFix/>
          </a:blip>
          <a:stretch>
            <a:fillRect/>
          </a:stretch>
        </p:blipFill>
        <p:spPr>
          <a:xfrm>
            <a:off x="4863875" y="1454364"/>
            <a:ext cx="4092325" cy="30692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127275" y="171100"/>
            <a:ext cx="4872300" cy="48513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Distance of each vertices is calculated from the centroid and its mean and standard deviation is taken for comparison</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Using epsilon value approximation for arc length to figure out the standard deviation in angles and number of concave corners(when angle is greater than 180°)</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Contour area is calculated directly using in-built function contourArea()</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a:p>
        </p:txBody>
      </p:sp>
      <p:pic>
        <p:nvPicPr>
          <p:cNvPr id="125" name="Google Shape;125;p22"/>
          <p:cNvPicPr preferRelativeResize="0"/>
          <p:nvPr/>
        </p:nvPicPr>
        <p:blipFill>
          <a:blip r:embed="rId3">
            <a:alphaModFix/>
          </a:blip>
          <a:stretch>
            <a:fillRect/>
          </a:stretch>
        </p:blipFill>
        <p:spPr>
          <a:xfrm>
            <a:off x="5131125" y="914000"/>
            <a:ext cx="3839626" cy="2879719"/>
          </a:xfrm>
          <a:prstGeom prst="rect">
            <a:avLst/>
          </a:prstGeom>
          <a:noFill/>
          <a:ln>
            <a:noFill/>
          </a:ln>
        </p:spPr>
      </p:pic>
      <p:sp>
        <p:nvSpPr>
          <p:cNvPr id="126" name="Google Shape;126;p22"/>
          <p:cNvSpPr txBox="1"/>
          <p:nvPr/>
        </p:nvSpPr>
        <p:spPr>
          <a:xfrm>
            <a:off x="5234875" y="4000050"/>
            <a:ext cx="4330200" cy="6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Contour Area comes out to be: </a:t>
            </a:r>
            <a:r>
              <a:rPr b="1" lang="en" sz="1500">
                <a:solidFill>
                  <a:schemeClr val="dk2"/>
                </a:solidFill>
                <a:latin typeface="Roboto"/>
                <a:ea typeface="Roboto"/>
                <a:cs typeface="Roboto"/>
                <a:sym typeface="Roboto"/>
              </a:rPr>
              <a:t>115353.5</a:t>
            </a:r>
            <a:endParaRPr b="1" sz="15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47575" y="500925"/>
            <a:ext cx="37044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t/>
            </a:r>
            <a:endParaRPr b="1" sz="2000">
              <a:solidFill>
                <a:schemeClr val="accent2"/>
              </a:solidFill>
            </a:endParaRPr>
          </a:p>
          <a:p>
            <a:pPr indent="0" lvl="0" marL="0" rtl="0" algn="l">
              <a:spcBef>
                <a:spcPts val="0"/>
              </a:spcBef>
              <a:spcAft>
                <a:spcPts val="0"/>
              </a:spcAft>
              <a:buSzPts val="990"/>
              <a:buNone/>
            </a:pPr>
            <a:r>
              <a:t/>
            </a:r>
            <a:endParaRPr b="1" sz="2000">
              <a:solidFill>
                <a:schemeClr val="accent2"/>
              </a:solidFill>
            </a:endParaRPr>
          </a:p>
          <a:p>
            <a:pPr indent="0" lvl="0" marL="0" rtl="0" algn="l">
              <a:spcBef>
                <a:spcPts val="0"/>
              </a:spcBef>
              <a:spcAft>
                <a:spcPts val="0"/>
              </a:spcAft>
              <a:buSzPts val="990"/>
              <a:buNone/>
            </a:pPr>
            <a:r>
              <a:rPr b="1" lang="en" sz="3500"/>
              <a:t>Classification into Families</a:t>
            </a:r>
            <a:endParaRPr b="1" sz="3500"/>
          </a:p>
        </p:txBody>
      </p:sp>
      <p:sp>
        <p:nvSpPr>
          <p:cNvPr id="132" name="Google Shape;132;p23"/>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Clr>
                <a:schemeClr val="dk1"/>
              </a:buClr>
              <a:buSzPts val="1800"/>
              <a:buChar char="❖"/>
            </a:pPr>
            <a:r>
              <a:rPr b="1" lang="en" sz="1800">
                <a:solidFill>
                  <a:schemeClr val="dk1"/>
                </a:solidFill>
              </a:rPr>
              <a:t>t-SNE Dimensionality Reduction</a:t>
            </a:r>
            <a:endParaRPr b="1" sz="1800">
              <a:solidFill>
                <a:schemeClr val="dk1"/>
              </a:solidFill>
            </a:endParaRPr>
          </a:p>
          <a:p>
            <a:pPr indent="-342900" lvl="0" marL="457200" rtl="0" algn="l">
              <a:lnSpc>
                <a:spcPct val="200000"/>
              </a:lnSpc>
              <a:spcBef>
                <a:spcPts val="0"/>
              </a:spcBef>
              <a:spcAft>
                <a:spcPts val="0"/>
              </a:spcAft>
              <a:buClr>
                <a:schemeClr val="dk1"/>
              </a:buClr>
              <a:buSzPts val="1800"/>
              <a:buChar char="❖"/>
            </a:pPr>
            <a:r>
              <a:rPr b="1" lang="en" sz="1800">
                <a:solidFill>
                  <a:schemeClr val="dk1"/>
                </a:solidFill>
              </a:rPr>
              <a:t>K-Means Clustering</a:t>
            </a:r>
            <a:endParaRPr b="1" sz="1800">
              <a:solidFill>
                <a:schemeClr val="dk1"/>
              </a:solidFill>
            </a:endParaRPr>
          </a:p>
          <a:p>
            <a:pPr indent="-342900" lvl="0" marL="457200" rtl="0" algn="l">
              <a:lnSpc>
                <a:spcPct val="200000"/>
              </a:lnSpc>
              <a:spcBef>
                <a:spcPts val="0"/>
              </a:spcBef>
              <a:spcAft>
                <a:spcPts val="0"/>
              </a:spcAft>
              <a:buClr>
                <a:schemeClr val="dk1"/>
              </a:buClr>
              <a:buSzPts val="1800"/>
              <a:buChar char="❖"/>
            </a:pPr>
            <a:r>
              <a:rPr b="1" lang="en" sz="1800">
                <a:solidFill>
                  <a:schemeClr val="dk1"/>
                </a:solidFill>
              </a:rPr>
              <a:t>Hierarchical</a:t>
            </a:r>
            <a:r>
              <a:rPr b="1" lang="en" sz="1800">
                <a:solidFill>
                  <a:schemeClr val="dk1"/>
                </a:solidFill>
              </a:rPr>
              <a:t> Clustering</a:t>
            </a:r>
            <a:endParaRPr b="1" sz="1800">
              <a:solidFill>
                <a:schemeClr val="dk1"/>
              </a:solidFill>
            </a:endParaRPr>
          </a:p>
          <a:p>
            <a:pPr indent="0" lvl="0" marL="0" rtl="0" algn="l">
              <a:spcBef>
                <a:spcPts val="1200"/>
              </a:spcBef>
              <a:spcAft>
                <a:spcPts val="1200"/>
              </a:spcAft>
              <a:buNone/>
            </a:pPr>
            <a:r>
              <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25" y="500925"/>
            <a:ext cx="8520600" cy="623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3500"/>
              <a:t>t-SNE Dimensionality Reduction</a:t>
            </a:r>
            <a:endParaRPr sz="3500"/>
          </a:p>
        </p:txBody>
      </p:sp>
      <p:sp>
        <p:nvSpPr>
          <p:cNvPr id="138" name="Google Shape;138;p24"/>
          <p:cNvSpPr txBox="1"/>
          <p:nvPr>
            <p:ph idx="1" type="body"/>
          </p:nvPr>
        </p:nvSpPr>
        <p:spPr>
          <a:xfrm>
            <a:off x="43625" y="1356300"/>
            <a:ext cx="4174500" cy="3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2000"/>
          </a:p>
          <a:p>
            <a:pPr indent="0" lvl="0" marL="0" rtl="0" algn="l">
              <a:spcBef>
                <a:spcPts val="1200"/>
              </a:spcBef>
              <a:spcAft>
                <a:spcPts val="0"/>
              </a:spcAft>
              <a:buNone/>
            </a:pPr>
            <a:r>
              <a:rPr lang="en" sz="2000">
                <a:solidFill>
                  <a:schemeClr val="dk1"/>
                </a:solidFill>
              </a:rPr>
              <a:t>We used t-SNE to reduce dimensions and produce a 2D visualization. We see that there are indeed small clusters which could represent a family of designs with similar features.</a:t>
            </a:r>
            <a:endParaRPr sz="2000">
              <a:solidFill>
                <a:schemeClr val="dk1"/>
              </a:solidFill>
            </a:endParaRPr>
          </a:p>
          <a:p>
            <a:pPr indent="0" lvl="0" marL="0" rtl="0" algn="ctr">
              <a:spcBef>
                <a:spcPts val="1200"/>
              </a:spcBef>
              <a:spcAft>
                <a:spcPts val="0"/>
              </a:spcAft>
              <a:buNone/>
            </a:pPr>
            <a:r>
              <a:t/>
            </a:r>
            <a:endParaRPr sz="2000"/>
          </a:p>
          <a:p>
            <a:pPr indent="0" lvl="0" marL="0" rtl="0" algn="ctr">
              <a:spcBef>
                <a:spcPts val="1200"/>
              </a:spcBef>
              <a:spcAft>
                <a:spcPts val="0"/>
              </a:spcAft>
              <a:buNone/>
            </a:pPr>
            <a:r>
              <a:t/>
            </a:r>
            <a:endParaRPr sz="2000"/>
          </a:p>
          <a:p>
            <a:pPr indent="0" lvl="0" marL="0" rtl="0" algn="ctr">
              <a:spcBef>
                <a:spcPts val="1200"/>
              </a:spcBef>
              <a:spcAft>
                <a:spcPts val="0"/>
              </a:spcAft>
              <a:buNone/>
            </a:pPr>
            <a:r>
              <a:t/>
            </a:r>
            <a:endParaRPr sz="2000"/>
          </a:p>
          <a:p>
            <a:pPr indent="0" lvl="0" marL="0" rtl="0" algn="ctr">
              <a:spcBef>
                <a:spcPts val="1200"/>
              </a:spcBef>
              <a:spcAft>
                <a:spcPts val="0"/>
              </a:spcAft>
              <a:buNone/>
            </a:pPr>
            <a:r>
              <a:t/>
            </a:r>
            <a:endParaRPr sz="2000"/>
          </a:p>
          <a:p>
            <a:pPr indent="0" lvl="0" marL="0" rtl="0" algn="ctr">
              <a:spcBef>
                <a:spcPts val="1200"/>
              </a:spcBef>
              <a:spcAft>
                <a:spcPts val="0"/>
              </a:spcAft>
              <a:buNone/>
            </a:pPr>
            <a:r>
              <a:t/>
            </a:r>
            <a:endParaRPr sz="2000"/>
          </a:p>
          <a:p>
            <a:pPr indent="0" lvl="0" marL="0" rtl="0" algn="ctr">
              <a:spcBef>
                <a:spcPts val="1200"/>
              </a:spcBef>
              <a:spcAft>
                <a:spcPts val="0"/>
              </a:spcAft>
              <a:buNone/>
            </a:pPr>
            <a:r>
              <a:t/>
            </a:r>
            <a:endParaRPr sz="2000"/>
          </a:p>
          <a:p>
            <a:pPr indent="0" lvl="0" marL="0" rtl="0" algn="ctr">
              <a:spcBef>
                <a:spcPts val="1200"/>
              </a:spcBef>
              <a:spcAft>
                <a:spcPts val="1200"/>
              </a:spcAft>
              <a:buNone/>
            </a:pPr>
            <a:r>
              <a:t/>
            </a:r>
            <a:endParaRPr sz="2000"/>
          </a:p>
        </p:txBody>
      </p:sp>
      <p:pic>
        <p:nvPicPr>
          <p:cNvPr id="139" name="Google Shape;139;p24"/>
          <p:cNvPicPr preferRelativeResize="0"/>
          <p:nvPr/>
        </p:nvPicPr>
        <p:blipFill>
          <a:blip r:embed="rId3">
            <a:alphaModFix/>
          </a:blip>
          <a:stretch>
            <a:fillRect/>
          </a:stretch>
        </p:blipFill>
        <p:spPr>
          <a:xfrm>
            <a:off x="4410950" y="1340525"/>
            <a:ext cx="4649236" cy="3714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25" y="500925"/>
            <a:ext cx="8520600" cy="623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3500"/>
              <a:t>Using K-means</a:t>
            </a:r>
            <a:endParaRPr sz="3500"/>
          </a:p>
        </p:txBody>
      </p:sp>
      <p:sp>
        <p:nvSpPr>
          <p:cNvPr id="145" name="Google Shape;145;p25"/>
          <p:cNvSpPr txBox="1"/>
          <p:nvPr>
            <p:ph idx="1" type="body"/>
          </p:nvPr>
        </p:nvSpPr>
        <p:spPr>
          <a:xfrm>
            <a:off x="0" y="1233925"/>
            <a:ext cx="3648600" cy="378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a:p>
            <a:pPr indent="0" lvl="0" marL="0" rtl="0" algn="ctr">
              <a:spcBef>
                <a:spcPts val="1200"/>
              </a:spcBef>
              <a:spcAft>
                <a:spcPts val="0"/>
              </a:spcAft>
              <a:buNone/>
            </a:pPr>
            <a:r>
              <a:rPr lang="en" sz="2000"/>
              <a:t>We then applied K-means clustering to segment the data into 25 distinct clusters . This categorizes designs into families, revealing patterns and similarities within the dataset. The features for clustering are the t-SNE dimensions</a:t>
            </a:r>
            <a:endParaRPr sz="2000"/>
          </a:p>
          <a:p>
            <a:pPr indent="0" lvl="0" marL="0" rtl="0" algn="ctr">
              <a:spcBef>
                <a:spcPts val="1200"/>
              </a:spcBef>
              <a:spcAft>
                <a:spcPts val="1200"/>
              </a:spcAft>
              <a:buNone/>
            </a:pPr>
            <a:r>
              <a:t/>
            </a:r>
            <a:endParaRPr sz="2000"/>
          </a:p>
        </p:txBody>
      </p:sp>
      <p:pic>
        <p:nvPicPr>
          <p:cNvPr id="146" name="Google Shape;146;p25"/>
          <p:cNvPicPr preferRelativeResize="0"/>
          <p:nvPr/>
        </p:nvPicPr>
        <p:blipFill>
          <a:blip r:embed="rId3">
            <a:alphaModFix/>
          </a:blip>
          <a:stretch>
            <a:fillRect/>
          </a:stretch>
        </p:blipFill>
        <p:spPr>
          <a:xfrm>
            <a:off x="4016875" y="1352425"/>
            <a:ext cx="4649236" cy="3714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25" y="500925"/>
            <a:ext cx="8520600" cy="623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3500"/>
              <a:t>Using Hierarchical Clustering</a:t>
            </a:r>
            <a:endParaRPr sz="3500"/>
          </a:p>
        </p:txBody>
      </p:sp>
      <p:sp>
        <p:nvSpPr>
          <p:cNvPr id="152" name="Google Shape;152;p26"/>
          <p:cNvSpPr txBox="1"/>
          <p:nvPr>
            <p:ph idx="1" type="body"/>
          </p:nvPr>
        </p:nvSpPr>
        <p:spPr>
          <a:xfrm>
            <a:off x="70850" y="1233925"/>
            <a:ext cx="4020300" cy="378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a:p>
            <a:pPr indent="0" lvl="0" marL="0" rtl="0" algn="l">
              <a:spcBef>
                <a:spcPts val="1200"/>
              </a:spcBef>
              <a:spcAft>
                <a:spcPts val="0"/>
              </a:spcAft>
              <a:buNone/>
            </a:pPr>
            <a:r>
              <a:rPr lang="en" sz="2000"/>
              <a:t>For our second approach, we employed hierarchical clustering using all the original features. This method organized the data into a tree-like structure, allowing us to see a detailed breakdown of the dataset into progressively smaller groups based on similarity. </a:t>
            </a:r>
            <a:endParaRPr sz="2000"/>
          </a:p>
          <a:p>
            <a:pPr indent="0" lvl="0" marL="0" rtl="0" algn="ctr">
              <a:spcBef>
                <a:spcPts val="1200"/>
              </a:spcBef>
              <a:spcAft>
                <a:spcPts val="1200"/>
              </a:spcAft>
              <a:buNone/>
            </a:pPr>
            <a:r>
              <a:t/>
            </a:r>
            <a:endParaRPr sz="2000"/>
          </a:p>
        </p:txBody>
      </p:sp>
      <p:pic>
        <p:nvPicPr>
          <p:cNvPr id="153" name="Google Shape;153;p26"/>
          <p:cNvPicPr preferRelativeResize="0"/>
          <p:nvPr/>
        </p:nvPicPr>
        <p:blipFill rotWithShape="1">
          <a:blip r:embed="rId3">
            <a:alphaModFix/>
          </a:blip>
          <a:srcRect b="1760" l="0" r="0" t="-1760"/>
          <a:stretch/>
        </p:blipFill>
        <p:spPr>
          <a:xfrm>
            <a:off x="4263575" y="1390925"/>
            <a:ext cx="4801299" cy="3558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Finalising the number of clusters</a:t>
            </a:r>
            <a:endParaRPr/>
          </a:p>
        </p:txBody>
      </p:sp>
      <p:sp>
        <p:nvSpPr>
          <p:cNvPr id="159" name="Google Shape;159;p27"/>
          <p:cNvSpPr txBox="1"/>
          <p:nvPr>
            <p:ph idx="1" type="body"/>
          </p:nvPr>
        </p:nvSpPr>
        <p:spPr>
          <a:xfrm>
            <a:off x="-102250" y="1391775"/>
            <a:ext cx="3609900" cy="319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Using </a:t>
            </a:r>
            <a:r>
              <a:rPr b="1" lang="en" sz="1800"/>
              <a:t>Elbow Method </a:t>
            </a:r>
            <a:r>
              <a:rPr lang="en" sz="1800"/>
              <a:t>with an assumption of 30 </a:t>
            </a:r>
            <a:r>
              <a:rPr lang="en" sz="1800"/>
              <a:t>maximum</a:t>
            </a:r>
            <a:r>
              <a:rPr lang="en" sz="1800"/>
              <a:t> clusters, calculating the within-cluster sum of squares for different number of clusters.</a:t>
            </a:r>
            <a:endParaRPr sz="1800"/>
          </a:p>
          <a:p>
            <a:pPr indent="-342900" lvl="0" marL="457200" rtl="0" algn="l">
              <a:spcBef>
                <a:spcPts val="0"/>
              </a:spcBef>
              <a:spcAft>
                <a:spcPts val="0"/>
              </a:spcAft>
              <a:buSzPts val="1800"/>
              <a:buChar char="●"/>
            </a:pPr>
            <a:r>
              <a:rPr lang="en" sz="1800"/>
              <a:t>After value of </a:t>
            </a:r>
            <a:r>
              <a:rPr b="1" lang="en" sz="1800"/>
              <a:t>n=26 </a:t>
            </a:r>
            <a:r>
              <a:rPr lang="en" sz="1800"/>
              <a:t>there is no change so we assume that 26 can be taken as an approximate number of clusters for our designs</a:t>
            </a:r>
            <a:endParaRPr sz="1800"/>
          </a:p>
        </p:txBody>
      </p:sp>
      <p:pic>
        <p:nvPicPr>
          <p:cNvPr id="160" name="Google Shape;160;p27"/>
          <p:cNvPicPr preferRelativeResize="0"/>
          <p:nvPr/>
        </p:nvPicPr>
        <p:blipFill>
          <a:blip r:embed="rId3">
            <a:alphaModFix/>
          </a:blip>
          <a:stretch>
            <a:fillRect/>
          </a:stretch>
        </p:blipFill>
        <p:spPr>
          <a:xfrm>
            <a:off x="3660050" y="1464800"/>
            <a:ext cx="5331551" cy="33826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Finalising the number of clusters</a:t>
            </a:r>
            <a:endParaRPr/>
          </a:p>
        </p:txBody>
      </p:sp>
      <p:sp>
        <p:nvSpPr>
          <p:cNvPr id="166" name="Google Shape;166;p28"/>
          <p:cNvSpPr txBox="1"/>
          <p:nvPr>
            <p:ph idx="1" type="body"/>
          </p:nvPr>
        </p:nvSpPr>
        <p:spPr>
          <a:xfrm>
            <a:off x="-102250" y="1391775"/>
            <a:ext cx="3609900" cy="31902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sz="2000"/>
              <a:t>Similarly using another metric Silhouette Score, we get an appropriate number of clusters.</a:t>
            </a:r>
            <a:endParaRPr sz="2000"/>
          </a:p>
          <a:p>
            <a:pPr indent="0" lvl="0" marL="457200" rtl="0" algn="l">
              <a:lnSpc>
                <a:spcPct val="100000"/>
              </a:lnSpc>
              <a:spcBef>
                <a:spcPts val="0"/>
              </a:spcBef>
              <a:spcAft>
                <a:spcPts val="0"/>
              </a:spcAft>
              <a:buNone/>
            </a:pPr>
            <a:r>
              <a:t/>
            </a:r>
            <a:endParaRPr sz="2000"/>
          </a:p>
          <a:p>
            <a:pPr indent="-342900" lvl="0" marL="457200" rtl="0" algn="l">
              <a:lnSpc>
                <a:spcPct val="100000"/>
              </a:lnSpc>
              <a:spcBef>
                <a:spcPts val="0"/>
              </a:spcBef>
              <a:spcAft>
                <a:spcPts val="0"/>
              </a:spcAft>
              <a:buSzPts val="1800"/>
              <a:buChar char="●"/>
            </a:pPr>
            <a:r>
              <a:rPr lang="en" sz="2000"/>
              <a:t>In both the above methods we have scaled data and ‘maxclust’ criteria</a:t>
            </a:r>
            <a:endParaRPr sz="1800"/>
          </a:p>
        </p:txBody>
      </p:sp>
      <p:pic>
        <p:nvPicPr>
          <p:cNvPr id="167" name="Google Shape;167;p28"/>
          <p:cNvPicPr preferRelativeResize="0"/>
          <p:nvPr/>
        </p:nvPicPr>
        <p:blipFill>
          <a:blip r:embed="rId3">
            <a:alphaModFix/>
          </a:blip>
          <a:stretch>
            <a:fillRect/>
          </a:stretch>
        </p:blipFill>
        <p:spPr>
          <a:xfrm>
            <a:off x="3592300" y="1391775"/>
            <a:ext cx="5446951" cy="3671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Finalising the number of clusters</a:t>
            </a:r>
            <a:endParaRPr/>
          </a:p>
        </p:txBody>
      </p:sp>
      <p:sp>
        <p:nvSpPr>
          <p:cNvPr id="173" name="Google Shape;173;p29"/>
          <p:cNvSpPr txBox="1"/>
          <p:nvPr>
            <p:ph idx="1" type="body"/>
          </p:nvPr>
        </p:nvSpPr>
        <p:spPr>
          <a:xfrm>
            <a:off x="160850" y="1391775"/>
            <a:ext cx="8520600" cy="31902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sz="2000"/>
          </a:p>
          <a:p>
            <a:pPr indent="0" lvl="0" marL="457200" rtl="0" algn="l">
              <a:lnSpc>
                <a:spcPct val="100000"/>
              </a:lnSpc>
              <a:spcBef>
                <a:spcPts val="0"/>
              </a:spcBef>
              <a:spcAft>
                <a:spcPts val="0"/>
              </a:spcAft>
              <a:buNone/>
            </a:pPr>
            <a:r>
              <a:rPr b="1" lang="en" sz="2000">
                <a:solidFill>
                  <a:schemeClr val="dk1"/>
                </a:solidFill>
              </a:rPr>
              <a:t>Using a higher number of clusters ensures high intra-cluster similarity, which facilitates the use of these clusters as cohesive families in subsequent analyses. This approach allows us to address broader problems by leveraging these well-defined families rather than individual images.</a:t>
            </a:r>
            <a:endParaRPr b="1" sz="20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25" y="500925"/>
            <a:ext cx="3706500" cy="25089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3500"/>
              <a:t>Complexity Classification </a:t>
            </a:r>
            <a:endParaRPr b="1" sz="3500"/>
          </a:p>
        </p:txBody>
      </p:sp>
      <p:sp>
        <p:nvSpPr>
          <p:cNvPr id="179" name="Google Shape;179;p30"/>
          <p:cNvSpPr txBox="1"/>
          <p:nvPr>
            <p:ph idx="1" type="body"/>
          </p:nvPr>
        </p:nvSpPr>
        <p:spPr>
          <a:xfrm>
            <a:off x="4279650" y="59400"/>
            <a:ext cx="4935000" cy="5024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700">
                <a:latin typeface="Merriweather"/>
                <a:ea typeface="Merriweather"/>
                <a:cs typeface="Merriweather"/>
                <a:sym typeface="Merriweather"/>
              </a:rPr>
              <a:t>We decided to group the 25 clusters into, different complexities assuming design families have similar complexity</a:t>
            </a:r>
            <a:endParaRPr sz="1700">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1700">
              <a:latin typeface="Merriweather"/>
              <a:ea typeface="Merriweather"/>
              <a:cs typeface="Merriweather"/>
              <a:sym typeface="Merriweather"/>
            </a:endParaRPr>
          </a:p>
          <a:p>
            <a:pPr indent="0" lvl="0" marL="0" rtl="0" algn="l">
              <a:lnSpc>
                <a:spcPct val="100000"/>
              </a:lnSpc>
              <a:spcBef>
                <a:spcPts val="0"/>
              </a:spcBef>
              <a:spcAft>
                <a:spcPts val="0"/>
              </a:spcAft>
              <a:buNone/>
            </a:pPr>
            <a:r>
              <a:rPr lang="en" sz="1700">
                <a:latin typeface="Merriweather"/>
                <a:ea typeface="Merriweather"/>
                <a:cs typeface="Merriweather"/>
                <a:sym typeface="Merriweather"/>
              </a:rPr>
              <a:t>Features used for classifying the 25 clusters:</a:t>
            </a:r>
            <a:endParaRPr sz="1700">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1700">
              <a:latin typeface="Merriweather"/>
              <a:ea typeface="Merriweather"/>
              <a:cs typeface="Merriweather"/>
              <a:sym typeface="Merriweather"/>
            </a:endParaRPr>
          </a:p>
          <a:p>
            <a:pPr indent="-336550" lvl="0" marL="457200" rtl="0" algn="l">
              <a:lnSpc>
                <a:spcPct val="115000"/>
              </a:lnSpc>
              <a:spcBef>
                <a:spcPts val="0"/>
              </a:spcBef>
              <a:spcAft>
                <a:spcPts val="0"/>
              </a:spcAft>
              <a:buSzPts val="1700"/>
              <a:buFont typeface="Merriweather"/>
              <a:buChar char="❖"/>
            </a:pPr>
            <a:r>
              <a:rPr lang="en" sz="1700">
                <a:latin typeface="Merriweather"/>
                <a:ea typeface="Merriweather"/>
                <a:cs typeface="Merriweather"/>
                <a:sym typeface="Merriweather"/>
              </a:rPr>
              <a:t>Number of corners </a:t>
            </a:r>
            <a:endParaRPr sz="1700">
              <a:latin typeface="Merriweather"/>
              <a:ea typeface="Merriweather"/>
              <a:cs typeface="Merriweather"/>
              <a:sym typeface="Merriweather"/>
            </a:endParaRPr>
          </a:p>
          <a:p>
            <a:pPr indent="-336550" lvl="0" marL="457200" rtl="0" algn="l">
              <a:lnSpc>
                <a:spcPct val="115000"/>
              </a:lnSpc>
              <a:spcBef>
                <a:spcPts val="0"/>
              </a:spcBef>
              <a:spcAft>
                <a:spcPts val="0"/>
              </a:spcAft>
              <a:buSzPts val="1700"/>
              <a:buFont typeface="Merriweather"/>
              <a:buChar char="❖"/>
            </a:pPr>
            <a:r>
              <a:rPr lang="en" sz="1700">
                <a:latin typeface="Merriweather"/>
                <a:ea typeface="Merriweather"/>
                <a:cs typeface="Merriweather"/>
                <a:sym typeface="Merriweather"/>
              </a:rPr>
              <a:t>Number of concave corners</a:t>
            </a:r>
            <a:endParaRPr sz="1700">
              <a:latin typeface="Merriweather"/>
              <a:ea typeface="Merriweather"/>
              <a:cs typeface="Merriweather"/>
              <a:sym typeface="Merriweather"/>
            </a:endParaRPr>
          </a:p>
          <a:p>
            <a:pPr indent="-336550" lvl="0" marL="457200" rtl="0" algn="l">
              <a:lnSpc>
                <a:spcPct val="115000"/>
              </a:lnSpc>
              <a:spcBef>
                <a:spcPts val="0"/>
              </a:spcBef>
              <a:spcAft>
                <a:spcPts val="0"/>
              </a:spcAft>
              <a:buSzPts val="1700"/>
              <a:buFont typeface="Merriweather"/>
              <a:buChar char="❖"/>
            </a:pPr>
            <a:r>
              <a:rPr lang="en" sz="1700">
                <a:latin typeface="Merriweather"/>
                <a:ea typeface="Merriweather"/>
                <a:cs typeface="Merriweather"/>
                <a:sym typeface="Merriweather"/>
              </a:rPr>
              <a:t>Standard deviation of the distance of vertices form centroid</a:t>
            </a:r>
            <a:endParaRPr sz="1700">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Complexity Classification</a:t>
            </a:r>
            <a:endParaRPr/>
          </a:p>
        </p:txBody>
      </p:sp>
      <p:sp>
        <p:nvSpPr>
          <p:cNvPr id="185" name="Google Shape;185;p31"/>
          <p:cNvSpPr txBox="1"/>
          <p:nvPr/>
        </p:nvSpPr>
        <p:spPr>
          <a:xfrm>
            <a:off x="462650" y="1787075"/>
            <a:ext cx="8109900" cy="26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2"/>
                </a:solidFill>
                <a:latin typeface="Merriweather"/>
                <a:ea typeface="Merriweather"/>
                <a:cs typeface="Merriweather"/>
                <a:sym typeface="Merriweather"/>
              </a:rPr>
              <a:t>We calculated the complexity score for each design family by taking a weighted sum of the average features. Based on our analysis, we then set appropriate thresholds to categorize the families into different levels of complexity keeping roughly equal number of </a:t>
            </a:r>
            <a:r>
              <a:rPr lang="en" sz="1700">
                <a:solidFill>
                  <a:schemeClr val="dk2"/>
                </a:solidFill>
                <a:latin typeface="Merriweather"/>
                <a:ea typeface="Merriweather"/>
                <a:cs typeface="Merriweather"/>
                <a:sym typeface="Merriweather"/>
              </a:rPr>
              <a:t>images in each complexity.</a:t>
            </a:r>
            <a:endParaRPr sz="17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17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1700">
                <a:solidFill>
                  <a:schemeClr val="dk2"/>
                </a:solidFill>
                <a:latin typeface="Merriweather"/>
                <a:ea typeface="Merriweather"/>
                <a:cs typeface="Merriweather"/>
                <a:sym typeface="Merriweather"/>
              </a:rPr>
              <a:t>No. of images with:</a:t>
            </a:r>
            <a:endParaRPr sz="17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1700">
              <a:solidFill>
                <a:schemeClr val="dk2"/>
              </a:solidFill>
              <a:latin typeface="Merriweather"/>
              <a:ea typeface="Merriweather"/>
              <a:cs typeface="Merriweather"/>
              <a:sym typeface="Merriweather"/>
            </a:endParaRPr>
          </a:p>
          <a:p>
            <a:pPr indent="-336550" lvl="0" marL="457200" rtl="0" algn="l">
              <a:spcBef>
                <a:spcPts val="0"/>
              </a:spcBef>
              <a:spcAft>
                <a:spcPts val="0"/>
              </a:spcAft>
              <a:buClr>
                <a:schemeClr val="dk2"/>
              </a:buClr>
              <a:buSzPts val="1700"/>
              <a:buFont typeface="Merriweather"/>
              <a:buChar char="●"/>
            </a:pPr>
            <a:r>
              <a:rPr lang="en" sz="1700">
                <a:solidFill>
                  <a:schemeClr val="dk2"/>
                </a:solidFill>
                <a:latin typeface="Merriweather"/>
                <a:ea typeface="Merriweather"/>
                <a:cs typeface="Merriweather"/>
                <a:sym typeface="Merriweather"/>
              </a:rPr>
              <a:t>Low complexity: 348</a:t>
            </a:r>
            <a:endParaRPr sz="1700">
              <a:solidFill>
                <a:schemeClr val="dk2"/>
              </a:solidFill>
              <a:latin typeface="Merriweather"/>
              <a:ea typeface="Merriweather"/>
              <a:cs typeface="Merriweather"/>
              <a:sym typeface="Merriweather"/>
            </a:endParaRPr>
          </a:p>
          <a:p>
            <a:pPr indent="-336550" lvl="0" marL="457200" rtl="0" algn="l">
              <a:spcBef>
                <a:spcPts val="0"/>
              </a:spcBef>
              <a:spcAft>
                <a:spcPts val="0"/>
              </a:spcAft>
              <a:buClr>
                <a:schemeClr val="dk2"/>
              </a:buClr>
              <a:buSzPts val="1700"/>
              <a:buFont typeface="Merriweather"/>
              <a:buChar char="●"/>
            </a:pPr>
            <a:r>
              <a:rPr lang="en" sz="1700">
                <a:solidFill>
                  <a:schemeClr val="dk2"/>
                </a:solidFill>
                <a:latin typeface="Merriweather"/>
                <a:ea typeface="Merriweather"/>
                <a:cs typeface="Merriweather"/>
                <a:sym typeface="Merriweather"/>
              </a:rPr>
              <a:t>Medium Complexity: 496</a:t>
            </a:r>
            <a:endParaRPr sz="1700">
              <a:solidFill>
                <a:schemeClr val="dk2"/>
              </a:solidFill>
              <a:latin typeface="Merriweather"/>
              <a:ea typeface="Merriweather"/>
              <a:cs typeface="Merriweather"/>
              <a:sym typeface="Merriweather"/>
            </a:endParaRPr>
          </a:p>
          <a:p>
            <a:pPr indent="-336550" lvl="0" marL="457200" rtl="0" algn="l">
              <a:spcBef>
                <a:spcPts val="0"/>
              </a:spcBef>
              <a:spcAft>
                <a:spcPts val="0"/>
              </a:spcAft>
              <a:buClr>
                <a:schemeClr val="dk2"/>
              </a:buClr>
              <a:buSzPts val="1700"/>
              <a:buFont typeface="Merriweather"/>
              <a:buChar char="●"/>
            </a:pPr>
            <a:r>
              <a:rPr lang="en" sz="1700">
                <a:solidFill>
                  <a:schemeClr val="dk2"/>
                </a:solidFill>
                <a:latin typeface="Merriweather"/>
                <a:ea typeface="Merriweather"/>
                <a:cs typeface="Merriweather"/>
                <a:sym typeface="Merriweather"/>
              </a:rPr>
              <a:t>High Complexity: 339</a:t>
            </a:r>
            <a:endParaRPr sz="1300">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2"/>
          <p:cNvPicPr preferRelativeResize="0"/>
          <p:nvPr/>
        </p:nvPicPr>
        <p:blipFill>
          <a:blip r:embed="rId3">
            <a:alphaModFix/>
          </a:blip>
          <a:stretch>
            <a:fillRect/>
          </a:stretch>
        </p:blipFill>
        <p:spPr>
          <a:xfrm>
            <a:off x="0" y="1367556"/>
            <a:ext cx="1379901" cy="1034920"/>
          </a:xfrm>
          <a:prstGeom prst="rect">
            <a:avLst/>
          </a:prstGeom>
          <a:noFill/>
          <a:ln>
            <a:noFill/>
          </a:ln>
        </p:spPr>
      </p:pic>
      <p:pic>
        <p:nvPicPr>
          <p:cNvPr id="191" name="Google Shape;191;p32"/>
          <p:cNvPicPr preferRelativeResize="0"/>
          <p:nvPr/>
        </p:nvPicPr>
        <p:blipFill>
          <a:blip r:embed="rId4">
            <a:alphaModFix/>
          </a:blip>
          <a:stretch>
            <a:fillRect/>
          </a:stretch>
        </p:blipFill>
        <p:spPr>
          <a:xfrm>
            <a:off x="1519375" y="1367581"/>
            <a:ext cx="1379901" cy="1034920"/>
          </a:xfrm>
          <a:prstGeom prst="rect">
            <a:avLst/>
          </a:prstGeom>
          <a:noFill/>
          <a:ln>
            <a:noFill/>
          </a:ln>
        </p:spPr>
      </p:pic>
      <p:pic>
        <p:nvPicPr>
          <p:cNvPr id="192" name="Google Shape;192;p32"/>
          <p:cNvPicPr preferRelativeResize="0"/>
          <p:nvPr/>
        </p:nvPicPr>
        <p:blipFill>
          <a:blip r:embed="rId5">
            <a:alphaModFix/>
          </a:blip>
          <a:stretch>
            <a:fillRect/>
          </a:stretch>
        </p:blipFill>
        <p:spPr>
          <a:xfrm>
            <a:off x="0" y="2703281"/>
            <a:ext cx="1379901" cy="1034920"/>
          </a:xfrm>
          <a:prstGeom prst="rect">
            <a:avLst/>
          </a:prstGeom>
          <a:noFill/>
          <a:ln>
            <a:noFill/>
          </a:ln>
        </p:spPr>
      </p:pic>
      <p:pic>
        <p:nvPicPr>
          <p:cNvPr id="193" name="Google Shape;193;p32"/>
          <p:cNvPicPr preferRelativeResize="0"/>
          <p:nvPr/>
        </p:nvPicPr>
        <p:blipFill>
          <a:blip r:embed="rId6">
            <a:alphaModFix/>
          </a:blip>
          <a:stretch>
            <a:fillRect/>
          </a:stretch>
        </p:blipFill>
        <p:spPr>
          <a:xfrm>
            <a:off x="1519375" y="2703263"/>
            <a:ext cx="1379899" cy="1034936"/>
          </a:xfrm>
          <a:prstGeom prst="rect">
            <a:avLst/>
          </a:prstGeom>
          <a:noFill/>
          <a:ln>
            <a:noFill/>
          </a:ln>
        </p:spPr>
      </p:pic>
      <p:pic>
        <p:nvPicPr>
          <p:cNvPr id="194" name="Google Shape;194;p32"/>
          <p:cNvPicPr preferRelativeResize="0"/>
          <p:nvPr/>
        </p:nvPicPr>
        <p:blipFill>
          <a:blip r:embed="rId7">
            <a:alphaModFix/>
          </a:blip>
          <a:stretch>
            <a:fillRect/>
          </a:stretch>
        </p:blipFill>
        <p:spPr>
          <a:xfrm>
            <a:off x="0" y="4038981"/>
            <a:ext cx="1379899" cy="1034920"/>
          </a:xfrm>
          <a:prstGeom prst="rect">
            <a:avLst/>
          </a:prstGeom>
          <a:noFill/>
          <a:ln>
            <a:noFill/>
          </a:ln>
        </p:spPr>
      </p:pic>
      <p:pic>
        <p:nvPicPr>
          <p:cNvPr id="195" name="Google Shape;195;p32"/>
          <p:cNvPicPr preferRelativeResize="0"/>
          <p:nvPr/>
        </p:nvPicPr>
        <p:blipFill>
          <a:blip r:embed="rId8">
            <a:alphaModFix/>
          </a:blip>
          <a:stretch>
            <a:fillRect/>
          </a:stretch>
        </p:blipFill>
        <p:spPr>
          <a:xfrm>
            <a:off x="1519375" y="4038981"/>
            <a:ext cx="1379899" cy="1034920"/>
          </a:xfrm>
          <a:prstGeom prst="rect">
            <a:avLst/>
          </a:prstGeom>
          <a:noFill/>
          <a:ln>
            <a:noFill/>
          </a:ln>
        </p:spPr>
      </p:pic>
      <p:pic>
        <p:nvPicPr>
          <p:cNvPr id="196" name="Google Shape;196;p32"/>
          <p:cNvPicPr preferRelativeResize="0"/>
          <p:nvPr/>
        </p:nvPicPr>
        <p:blipFill>
          <a:blip r:embed="rId9">
            <a:alphaModFix/>
          </a:blip>
          <a:stretch>
            <a:fillRect/>
          </a:stretch>
        </p:blipFill>
        <p:spPr>
          <a:xfrm>
            <a:off x="3121825" y="1367581"/>
            <a:ext cx="1379899" cy="1034920"/>
          </a:xfrm>
          <a:prstGeom prst="rect">
            <a:avLst/>
          </a:prstGeom>
          <a:noFill/>
          <a:ln>
            <a:noFill/>
          </a:ln>
        </p:spPr>
      </p:pic>
      <p:pic>
        <p:nvPicPr>
          <p:cNvPr id="197" name="Google Shape;197;p32"/>
          <p:cNvPicPr preferRelativeResize="0"/>
          <p:nvPr/>
        </p:nvPicPr>
        <p:blipFill>
          <a:blip r:embed="rId10">
            <a:alphaModFix/>
          </a:blip>
          <a:stretch>
            <a:fillRect/>
          </a:stretch>
        </p:blipFill>
        <p:spPr>
          <a:xfrm>
            <a:off x="4654526" y="1367563"/>
            <a:ext cx="1379899" cy="1034936"/>
          </a:xfrm>
          <a:prstGeom prst="rect">
            <a:avLst/>
          </a:prstGeom>
          <a:noFill/>
          <a:ln>
            <a:noFill/>
          </a:ln>
        </p:spPr>
      </p:pic>
      <p:pic>
        <p:nvPicPr>
          <p:cNvPr id="198" name="Google Shape;198;p32"/>
          <p:cNvPicPr preferRelativeResize="0"/>
          <p:nvPr/>
        </p:nvPicPr>
        <p:blipFill>
          <a:blip r:embed="rId11">
            <a:alphaModFix/>
          </a:blip>
          <a:stretch>
            <a:fillRect/>
          </a:stretch>
        </p:blipFill>
        <p:spPr>
          <a:xfrm>
            <a:off x="3121825" y="2703263"/>
            <a:ext cx="1379899" cy="1034936"/>
          </a:xfrm>
          <a:prstGeom prst="rect">
            <a:avLst/>
          </a:prstGeom>
          <a:noFill/>
          <a:ln>
            <a:noFill/>
          </a:ln>
        </p:spPr>
      </p:pic>
      <p:pic>
        <p:nvPicPr>
          <p:cNvPr id="199" name="Google Shape;199;p32"/>
          <p:cNvPicPr preferRelativeResize="0"/>
          <p:nvPr/>
        </p:nvPicPr>
        <p:blipFill>
          <a:blip r:embed="rId12">
            <a:alphaModFix/>
          </a:blip>
          <a:stretch>
            <a:fillRect/>
          </a:stretch>
        </p:blipFill>
        <p:spPr>
          <a:xfrm>
            <a:off x="4654525" y="2703262"/>
            <a:ext cx="1379899" cy="1034936"/>
          </a:xfrm>
          <a:prstGeom prst="rect">
            <a:avLst/>
          </a:prstGeom>
          <a:noFill/>
          <a:ln>
            <a:noFill/>
          </a:ln>
        </p:spPr>
      </p:pic>
      <p:pic>
        <p:nvPicPr>
          <p:cNvPr id="200" name="Google Shape;200;p32"/>
          <p:cNvPicPr preferRelativeResize="0"/>
          <p:nvPr/>
        </p:nvPicPr>
        <p:blipFill>
          <a:blip r:embed="rId13">
            <a:alphaModFix/>
          </a:blip>
          <a:stretch>
            <a:fillRect/>
          </a:stretch>
        </p:blipFill>
        <p:spPr>
          <a:xfrm>
            <a:off x="3121825" y="4038981"/>
            <a:ext cx="1379901" cy="1034920"/>
          </a:xfrm>
          <a:prstGeom prst="rect">
            <a:avLst/>
          </a:prstGeom>
          <a:noFill/>
          <a:ln>
            <a:noFill/>
          </a:ln>
        </p:spPr>
      </p:pic>
      <p:pic>
        <p:nvPicPr>
          <p:cNvPr id="201" name="Google Shape;201;p32"/>
          <p:cNvPicPr preferRelativeResize="0"/>
          <p:nvPr/>
        </p:nvPicPr>
        <p:blipFill>
          <a:blip r:embed="rId14">
            <a:alphaModFix/>
          </a:blip>
          <a:stretch>
            <a:fillRect/>
          </a:stretch>
        </p:blipFill>
        <p:spPr>
          <a:xfrm>
            <a:off x="4654524" y="4038963"/>
            <a:ext cx="1379901" cy="1034936"/>
          </a:xfrm>
          <a:prstGeom prst="rect">
            <a:avLst/>
          </a:prstGeom>
          <a:noFill/>
          <a:ln>
            <a:noFill/>
          </a:ln>
        </p:spPr>
      </p:pic>
      <p:pic>
        <p:nvPicPr>
          <p:cNvPr id="202" name="Google Shape;202;p32"/>
          <p:cNvPicPr preferRelativeResize="0"/>
          <p:nvPr/>
        </p:nvPicPr>
        <p:blipFill>
          <a:blip r:embed="rId15">
            <a:alphaModFix/>
          </a:blip>
          <a:stretch>
            <a:fillRect/>
          </a:stretch>
        </p:blipFill>
        <p:spPr>
          <a:xfrm>
            <a:off x="7764100" y="1367538"/>
            <a:ext cx="1379901" cy="1034936"/>
          </a:xfrm>
          <a:prstGeom prst="rect">
            <a:avLst/>
          </a:prstGeom>
          <a:noFill/>
          <a:ln>
            <a:noFill/>
          </a:ln>
        </p:spPr>
      </p:pic>
      <p:pic>
        <p:nvPicPr>
          <p:cNvPr id="203" name="Google Shape;203;p32"/>
          <p:cNvPicPr preferRelativeResize="0"/>
          <p:nvPr/>
        </p:nvPicPr>
        <p:blipFill>
          <a:blip r:embed="rId16">
            <a:alphaModFix/>
          </a:blip>
          <a:stretch>
            <a:fillRect/>
          </a:stretch>
        </p:blipFill>
        <p:spPr>
          <a:xfrm>
            <a:off x="6243650" y="1367587"/>
            <a:ext cx="1379899" cy="1034914"/>
          </a:xfrm>
          <a:prstGeom prst="rect">
            <a:avLst/>
          </a:prstGeom>
          <a:noFill/>
          <a:ln>
            <a:noFill/>
          </a:ln>
        </p:spPr>
      </p:pic>
      <p:pic>
        <p:nvPicPr>
          <p:cNvPr id="204" name="Google Shape;204;p32"/>
          <p:cNvPicPr preferRelativeResize="0"/>
          <p:nvPr/>
        </p:nvPicPr>
        <p:blipFill>
          <a:blip r:embed="rId17">
            <a:alphaModFix/>
          </a:blip>
          <a:stretch>
            <a:fillRect/>
          </a:stretch>
        </p:blipFill>
        <p:spPr>
          <a:xfrm>
            <a:off x="6243650" y="2703275"/>
            <a:ext cx="1379901" cy="1034922"/>
          </a:xfrm>
          <a:prstGeom prst="rect">
            <a:avLst/>
          </a:prstGeom>
          <a:noFill/>
          <a:ln>
            <a:noFill/>
          </a:ln>
        </p:spPr>
      </p:pic>
      <p:pic>
        <p:nvPicPr>
          <p:cNvPr id="205" name="Google Shape;205;p32"/>
          <p:cNvPicPr preferRelativeResize="0"/>
          <p:nvPr/>
        </p:nvPicPr>
        <p:blipFill>
          <a:blip r:embed="rId18">
            <a:alphaModFix/>
          </a:blip>
          <a:stretch>
            <a:fillRect/>
          </a:stretch>
        </p:blipFill>
        <p:spPr>
          <a:xfrm>
            <a:off x="7764075" y="2703279"/>
            <a:ext cx="1379925" cy="1034950"/>
          </a:xfrm>
          <a:prstGeom prst="rect">
            <a:avLst/>
          </a:prstGeom>
          <a:noFill/>
          <a:ln>
            <a:noFill/>
          </a:ln>
        </p:spPr>
      </p:pic>
      <p:pic>
        <p:nvPicPr>
          <p:cNvPr id="206" name="Google Shape;206;p32"/>
          <p:cNvPicPr preferRelativeResize="0"/>
          <p:nvPr/>
        </p:nvPicPr>
        <p:blipFill>
          <a:blip r:embed="rId19">
            <a:alphaModFix/>
          </a:blip>
          <a:stretch>
            <a:fillRect/>
          </a:stretch>
        </p:blipFill>
        <p:spPr>
          <a:xfrm>
            <a:off x="6243650" y="4038977"/>
            <a:ext cx="1379925" cy="1034948"/>
          </a:xfrm>
          <a:prstGeom prst="rect">
            <a:avLst/>
          </a:prstGeom>
          <a:noFill/>
          <a:ln>
            <a:noFill/>
          </a:ln>
        </p:spPr>
      </p:pic>
      <p:pic>
        <p:nvPicPr>
          <p:cNvPr id="207" name="Google Shape;207;p32"/>
          <p:cNvPicPr preferRelativeResize="0"/>
          <p:nvPr/>
        </p:nvPicPr>
        <p:blipFill>
          <a:blip r:embed="rId20">
            <a:alphaModFix/>
          </a:blip>
          <a:stretch>
            <a:fillRect/>
          </a:stretch>
        </p:blipFill>
        <p:spPr>
          <a:xfrm>
            <a:off x="7764100" y="4038975"/>
            <a:ext cx="1379899" cy="1034924"/>
          </a:xfrm>
          <a:prstGeom prst="rect">
            <a:avLst/>
          </a:prstGeom>
          <a:noFill/>
          <a:ln>
            <a:noFill/>
          </a:ln>
        </p:spPr>
      </p:pic>
      <p:cxnSp>
        <p:nvCxnSpPr>
          <p:cNvPr id="208" name="Google Shape;208;p32"/>
          <p:cNvCxnSpPr/>
          <p:nvPr/>
        </p:nvCxnSpPr>
        <p:spPr>
          <a:xfrm flipH="1">
            <a:off x="3005075" y="-11250"/>
            <a:ext cx="22500" cy="5177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32"/>
          <p:cNvCxnSpPr/>
          <p:nvPr/>
        </p:nvCxnSpPr>
        <p:spPr>
          <a:xfrm>
            <a:off x="6156450" y="11250"/>
            <a:ext cx="0" cy="5166000"/>
          </a:xfrm>
          <a:prstGeom prst="straightConnector1">
            <a:avLst/>
          </a:prstGeom>
          <a:noFill/>
          <a:ln cap="flat" cmpd="sng" w="9525">
            <a:solidFill>
              <a:schemeClr val="dk2"/>
            </a:solidFill>
            <a:prstDash val="solid"/>
            <a:round/>
            <a:headEnd len="med" w="med" type="none"/>
            <a:tailEnd len="med" w="med" type="none"/>
          </a:ln>
        </p:spPr>
      </p:cxnSp>
      <p:sp>
        <p:nvSpPr>
          <p:cNvPr id="210" name="Google Shape;210;p32"/>
          <p:cNvSpPr txBox="1"/>
          <p:nvPr/>
        </p:nvSpPr>
        <p:spPr>
          <a:xfrm>
            <a:off x="540250" y="258850"/>
            <a:ext cx="2644800" cy="8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Roboto"/>
                <a:ea typeface="Roboto"/>
                <a:cs typeface="Roboto"/>
                <a:sym typeface="Roboto"/>
              </a:rPr>
              <a:t>Low Complexity</a:t>
            </a:r>
            <a:endParaRPr sz="2000">
              <a:solidFill>
                <a:schemeClr val="dk2"/>
              </a:solidFill>
              <a:latin typeface="Roboto"/>
              <a:ea typeface="Roboto"/>
              <a:cs typeface="Roboto"/>
              <a:sym typeface="Roboto"/>
            </a:endParaRPr>
          </a:p>
        </p:txBody>
      </p:sp>
      <p:sp>
        <p:nvSpPr>
          <p:cNvPr id="211" name="Google Shape;211;p32"/>
          <p:cNvSpPr txBox="1"/>
          <p:nvPr/>
        </p:nvSpPr>
        <p:spPr>
          <a:xfrm>
            <a:off x="3390500" y="258900"/>
            <a:ext cx="2560500" cy="8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Roboto"/>
                <a:ea typeface="Roboto"/>
                <a:cs typeface="Roboto"/>
                <a:sym typeface="Roboto"/>
              </a:rPr>
              <a:t>Medium Complexity</a:t>
            </a:r>
            <a:endParaRPr sz="2000">
              <a:solidFill>
                <a:schemeClr val="dk2"/>
              </a:solidFill>
              <a:latin typeface="Roboto"/>
              <a:ea typeface="Roboto"/>
              <a:cs typeface="Roboto"/>
              <a:sym typeface="Roboto"/>
            </a:endParaRPr>
          </a:p>
        </p:txBody>
      </p:sp>
      <p:sp>
        <p:nvSpPr>
          <p:cNvPr id="212" name="Google Shape;212;p32"/>
          <p:cNvSpPr txBox="1"/>
          <p:nvPr/>
        </p:nvSpPr>
        <p:spPr>
          <a:xfrm>
            <a:off x="6572875" y="258850"/>
            <a:ext cx="2295900" cy="7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Roboto"/>
                <a:ea typeface="Roboto"/>
                <a:cs typeface="Roboto"/>
                <a:sym typeface="Roboto"/>
              </a:rPr>
              <a:t>High Complexity</a:t>
            </a:r>
            <a:endParaRPr sz="200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Some Results from the Analysis</a:t>
            </a:r>
            <a:endParaRPr/>
          </a:p>
        </p:txBody>
      </p:sp>
      <p:pic>
        <p:nvPicPr>
          <p:cNvPr id="218" name="Google Shape;218;p33"/>
          <p:cNvPicPr preferRelativeResize="0"/>
          <p:nvPr/>
        </p:nvPicPr>
        <p:blipFill>
          <a:blip r:embed="rId3">
            <a:alphaModFix/>
          </a:blip>
          <a:stretch>
            <a:fillRect/>
          </a:stretch>
        </p:blipFill>
        <p:spPr>
          <a:xfrm>
            <a:off x="236975" y="1412650"/>
            <a:ext cx="4335024" cy="3474126"/>
          </a:xfrm>
          <a:prstGeom prst="rect">
            <a:avLst/>
          </a:prstGeom>
          <a:noFill/>
          <a:ln>
            <a:noFill/>
          </a:ln>
        </p:spPr>
      </p:pic>
      <p:pic>
        <p:nvPicPr>
          <p:cNvPr id="219" name="Google Shape;219;p33"/>
          <p:cNvPicPr preferRelativeResize="0"/>
          <p:nvPr/>
        </p:nvPicPr>
        <p:blipFill>
          <a:blip r:embed="rId4">
            <a:alphaModFix/>
          </a:blip>
          <a:stretch>
            <a:fillRect/>
          </a:stretch>
        </p:blipFill>
        <p:spPr>
          <a:xfrm>
            <a:off x="4713150" y="1412650"/>
            <a:ext cx="4267200" cy="3474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u="sng"/>
              <a:t>Metric Values for each complexity</a:t>
            </a:r>
            <a:endParaRPr b="1" sz="3000" u="sng"/>
          </a:p>
        </p:txBody>
      </p:sp>
      <p:graphicFrame>
        <p:nvGraphicFramePr>
          <p:cNvPr id="225" name="Google Shape;225;p34"/>
          <p:cNvGraphicFramePr/>
          <p:nvPr/>
        </p:nvGraphicFramePr>
        <p:xfrm>
          <a:off x="111025" y="1830600"/>
          <a:ext cx="3000000" cy="3000000"/>
        </p:xfrm>
        <a:graphic>
          <a:graphicData uri="http://schemas.openxmlformats.org/drawingml/2006/table">
            <a:tbl>
              <a:tblPr>
                <a:noFill/>
                <a:tableStyleId>{C9E74941-8CCF-45F2-ACD3-E6F1142B8C53}</a:tableStyleId>
              </a:tblPr>
              <a:tblGrid>
                <a:gridCol w="4671950"/>
                <a:gridCol w="1411350"/>
                <a:gridCol w="1419275"/>
                <a:gridCol w="1419350"/>
              </a:tblGrid>
              <a:tr h="381000">
                <a:tc>
                  <a:txBody>
                    <a:bodyPr/>
                    <a:lstStyle/>
                    <a:p>
                      <a:pPr indent="0" lvl="0" marL="0" rtl="0" algn="ctr">
                        <a:spcBef>
                          <a:spcPts val="0"/>
                        </a:spcBef>
                        <a:spcAft>
                          <a:spcPts val="0"/>
                        </a:spcAft>
                        <a:buNone/>
                      </a:pPr>
                      <a:r>
                        <a:rPr b="1" lang="en"/>
                        <a:t>Metrics</a:t>
                      </a:r>
                      <a:endParaRPr b="1"/>
                    </a:p>
                  </a:txBody>
                  <a:tcPr marT="91425" marB="91425" marR="91425" marL="91425" anchor="ctr"/>
                </a:tc>
                <a:tc>
                  <a:txBody>
                    <a:bodyPr/>
                    <a:lstStyle/>
                    <a:p>
                      <a:pPr indent="0" lvl="0" marL="0" rtl="0" algn="ctr">
                        <a:spcBef>
                          <a:spcPts val="0"/>
                        </a:spcBef>
                        <a:spcAft>
                          <a:spcPts val="0"/>
                        </a:spcAft>
                        <a:buNone/>
                      </a:pPr>
                      <a:r>
                        <a:rPr b="1" lang="en"/>
                        <a:t>Low Complexity(0)</a:t>
                      </a:r>
                      <a:endParaRPr b="1"/>
                    </a:p>
                  </a:txBody>
                  <a:tcPr marT="91425" marB="91425" marR="91425" marL="91425" anchor="ctr"/>
                </a:tc>
                <a:tc>
                  <a:txBody>
                    <a:bodyPr/>
                    <a:lstStyle/>
                    <a:p>
                      <a:pPr indent="0" lvl="0" marL="0" rtl="0" algn="ctr">
                        <a:spcBef>
                          <a:spcPts val="0"/>
                        </a:spcBef>
                        <a:spcAft>
                          <a:spcPts val="0"/>
                        </a:spcAft>
                        <a:buNone/>
                      </a:pPr>
                      <a:r>
                        <a:rPr b="1" lang="en"/>
                        <a:t>Medium Complexity(1)</a:t>
                      </a:r>
                      <a:endParaRPr b="1"/>
                    </a:p>
                  </a:txBody>
                  <a:tcPr marT="91425" marB="91425" marR="91425" marL="91425" anchor="ctr"/>
                </a:tc>
                <a:tc>
                  <a:txBody>
                    <a:bodyPr/>
                    <a:lstStyle/>
                    <a:p>
                      <a:pPr indent="0" lvl="0" marL="0" rtl="0" algn="ctr">
                        <a:spcBef>
                          <a:spcPts val="0"/>
                        </a:spcBef>
                        <a:spcAft>
                          <a:spcPts val="0"/>
                        </a:spcAft>
                        <a:buNone/>
                      </a:pPr>
                      <a:r>
                        <a:rPr b="1" lang="en"/>
                        <a:t>High Complexity(2)</a:t>
                      </a:r>
                      <a:endParaRPr b="1"/>
                    </a:p>
                  </a:txBody>
                  <a:tcPr marT="91425" marB="91425" marR="91425" marL="91425" anchor="ctr"/>
                </a:tc>
              </a:tr>
              <a:tr h="381000">
                <a:tc>
                  <a:txBody>
                    <a:bodyPr/>
                    <a:lstStyle/>
                    <a:p>
                      <a:pPr indent="0" lvl="0" marL="0" rtl="0" algn="ctr">
                        <a:spcBef>
                          <a:spcPts val="0"/>
                        </a:spcBef>
                        <a:spcAft>
                          <a:spcPts val="0"/>
                        </a:spcAft>
                        <a:buNone/>
                      </a:pPr>
                      <a:r>
                        <a:rPr b="1" lang="en"/>
                        <a:t>Average Number of corners</a:t>
                      </a:r>
                      <a:endParaRPr b="1"/>
                    </a:p>
                  </a:txBody>
                  <a:tcPr marT="91425" marB="91425" marR="91425" marL="91425" anchor="ctr"/>
                </a:tc>
                <a:tc>
                  <a:txBody>
                    <a:bodyPr/>
                    <a:lstStyle/>
                    <a:p>
                      <a:pPr indent="0" lvl="0" marL="0" rtl="0" algn="ctr">
                        <a:spcBef>
                          <a:spcPts val="0"/>
                        </a:spcBef>
                        <a:spcAft>
                          <a:spcPts val="0"/>
                        </a:spcAft>
                        <a:buNone/>
                      </a:pPr>
                      <a:r>
                        <a:rPr i="1" lang="en"/>
                        <a:t>4.353</a:t>
                      </a:r>
                      <a:endParaRPr i="1"/>
                    </a:p>
                  </a:txBody>
                  <a:tcPr marT="91425" marB="91425" marR="91425" marL="91425" anchor="ctr"/>
                </a:tc>
                <a:tc>
                  <a:txBody>
                    <a:bodyPr/>
                    <a:lstStyle/>
                    <a:p>
                      <a:pPr indent="0" lvl="0" marL="0" rtl="0" algn="ctr">
                        <a:spcBef>
                          <a:spcPts val="0"/>
                        </a:spcBef>
                        <a:spcAft>
                          <a:spcPts val="0"/>
                        </a:spcAft>
                        <a:buNone/>
                      </a:pPr>
                      <a:r>
                        <a:rPr i="1" lang="en"/>
                        <a:t>6.828</a:t>
                      </a:r>
                      <a:endParaRPr i="1"/>
                    </a:p>
                  </a:txBody>
                  <a:tcPr marT="91425" marB="91425" marR="91425" marL="91425" anchor="ctr"/>
                </a:tc>
                <a:tc>
                  <a:txBody>
                    <a:bodyPr/>
                    <a:lstStyle/>
                    <a:p>
                      <a:pPr indent="0" lvl="0" marL="0" rtl="0" algn="ctr">
                        <a:spcBef>
                          <a:spcPts val="0"/>
                        </a:spcBef>
                        <a:spcAft>
                          <a:spcPts val="0"/>
                        </a:spcAft>
                        <a:buNone/>
                      </a:pPr>
                      <a:r>
                        <a:rPr i="1" lang="en"/>
                        <a:t>11.41</a:t>
                      </a:r>
                      <a:endParaRPr i="1"/>
                    </a:p>
                  </a:txBody>
                  <a:tcPr marT="91425" marB="91425" marR="91425" marL="91425" anchor="ctr"/>
                </a:tc>
              </a:tr>
              <a:tr h="381000">
                <a:tc>
                  <a:txBody>
                    <a:bodyPr/>
                    <a:lstStyle/>
                    <a:p>
                      <a:pPr indent="0" lvl="0" marL="0" rtl="0" algn="ctr">
                        <a:spcBef>
                          <a:spcPts val="0"/>
                        </a:spcBef>
                        <a:spcAft>
                          <a:spcPts val="0"/>
                        </a:spcAft>
                        <a:buNone/>
                      </a:pPr>
                      <a:r>
                        <a:rPr b="1" lang="en"/>
                        <a:t>Average number of concave corners</a:t>
                      </a:r>
                      <a:endParaRPr b="1"/>
                    </a:p>
                  </a:txBody>
                  <a:tcPr marT="91425" marB="91425" marR="91425" marL="91425" anchor="ctr"/>
                </a:tc>
                <a:tc>
                  <a:txBody>
                    <a:bodyPr/>
                    <a:lstStyle/>
                    <a:p>
                      <a:pPr indent="0" lvl="0" marL="0" rtl="0" algn="ctr">
                        <a:spcBef>
                          <a:spcPts val="0"/>
                        </a:spcBef>
                        <a:spcAft>
                          <a:spcPts val="0"/>
                        </a:spcAft>
                        <a:buNone/>
                      </a:pPr>
                      <a:r>
                        <a:rPr i="1" lang="en"/>
                        <a:t>0.046</a:t>
                      </a:r>
                      <a:endParaRPr i="1"/>
                    </a:p>
                  </a:txBody>
                  <a:tcPr marT="91425" marB="91425" marR="91425" marL="91425" anchor="ctr"/>
                </a:tc>
                <a:tc>
                  <a:txBody>
                    <a:bodyPr/>
                    <a:lstStyle/>
                    <a:p>
                      <a:pPr indent="0" lvl="0" marL="0" rtl="0" algn="ctr">
                        <a:spcBef>
                          <a:spcPts val="0"/>
                        </a:spcBef>
                        <a:spcAft>
                          <a:spcPts val="0"/>
                        </a:spcAft>
                        <a:buNone/>
                      </a:pPr>
                      <a:r>
                        <a:rPr i="1" lang="en"/>
                        <a:t>0.8387</a:t>
                      </a:r>
                      <a:endParaRPr i="1"/>
                    </a:p>
                  </a:txBody>
                  <a:tcPr marT="91425" marB="91425" marR="91425" marL="91425" anchor="ctr"/>
                </a:tc>
                <a:tc>
                  <a:txBody>
                    <a:bodyPr/>
                    <a:lstStyle/>
                    <a:p>
                      <a:pPr indent="0" lvl="0" marL="0" rtl="0" algn="ctr">
                        <a:spcBef>
                          <a:spcPts val="0"/>
                        </a:spcBef>
                        <a:spcAft>
                          <a:spcPts val="0"/>
                        </a:spcAft>
                        <a:buNone/>
                      </a:pPr>
                      <a:r>
                        <a:rPr i="1" lang="en"/>
                        <a:t>3.539</a:t>
                      </a:r>
                      <a:endParaRPr i="1"/>
                    </a:p>
                  </a:txBody>
                  <a:tcPr marT="91425" marB="91425" marR="91425" marL="91425" anchor="ctr"/>
                </a:tc>
              </a:tr>
              <a:tr h="381000">
                <a:tc>
                  <a:txBody>
                    <a:bodyPr/>
                    <a:lstStyle/>
                    <a:p>
                      <a:pPr indent="0" lvl="0" marL="0" rtl="0" algn="ctr">
                        <a:spcBef>
                          <a:spcPts val="0"/>
                        </a:spcBef>
                        <a:spcAft>
                          <a:spcPts val="0"/>
                        </a:spcAft>
                        <a:buNone/>
                      </a:pPr>
                      <a:r>
                        <a:rPr b="1" lang="en">
                          <a:solidFill>
                            <a:schemeClr val="dk1"/>
                          </a:solidFill>
                        </a:rPr>
                        <a:t>Average Standard Deviation of angles</a:t>
                      </a:r>
                      <a:endParaRPr b="1">
                        <a:solidFill>
                          <a:schemeClr val="dk1"/>
                        </a:solidFill>
                      </a:endParaRPr>
                    </a:p>
                  </a:txBody>
                  <a:tcPr marT="91425" marB="91425" marR="91425" marL="91425" anchor="ctr"/>
                </a:tc>
                <a:tc>
                  <a:txBody>
                    <a:bodyPr/>
                    <a:lstStyle/>
                    <a:p>
                      <a:pPr indent="0" lvl="0" marL="0" rtl="0" algn="ctr">
                        <a:spcBef>
                          <a:spcPts val="0"/>
                        </a:spcBef>
                        <a:spcAft>
                          <a:spcPts val="0"/>
                        </a:spcAft>
                        <a:buNone/>
                      </a:pPr>
                      <a:r>
                        <a:rPr i="1" lang="en"/>
                        <a:t>10.026</a:t>
                      </a:r>
                      <a:endParaRPr i="1"/>
                    </a:p>
                  </a:txBody>
                  <a:tcPr marT="91425" marB="91425" marR="91425" marL="91425" anchor="ctr"/>
                </a:tc>
                <a:tc>
                  <a:txBody>
                    <a:bodyPr/>
                    <a:lstStyle/>
                    <a:p>
                      <a:pPr indent="0" lvl="0" marL="0" rtl="0" algn="ctr">
                        <a:spcBef>
                          <a:spcPts val="0"/>
                        </a:spcBef>
                        <a:spcAft>
                          <a:spcPts val="0"/>
                        </a:spcAft>
                        <a:buNone/>
                      </a:pPr>
                      <a:r>
                        <a:rPr i="1" lang="en"/>
                        <a:t>42.177</a:t>
                      </a:r>
                      <a:endParaRPr i="1"/>
                    </a:p>
                  </a:txBody>
                  <a:tcPr marT="91425" marB="91425" marR="91425" marL="91425" anchor="ctr"/>
                </a:tc>
                <a:tc>
                  <a:txBody>
                    <a:bodyPr/>
                    <a:lstStyle/>
                    <a:p>
                      <a:pPr indent="0" lvl="0" marL="0" rtl="0" algn="ctr">
                        <a:spcBef>
                          <a:spcPts val="0"/>
                        </a:spcBef>
                        <a:spcAft>
                          <a:spcPts val="0"/>
                        </a:spcAft>
                        <a:buNone/>
                      </a:pPr>
                      <a:r>
                        <a:rPr i="1" lang="en"/>
                        <a:t>61.553</a:t>
                      </a:r>
                      <a:endParaRPr i="1"/>
                    </a:p>
                  </a:txBody>
                  <a:tcPr marT="91425" marB="91425" marR="91425" marL="91425" anchor="ctr"/>
                </a:tc>
              </a:tr>
              <a:tr h="381000">
                <a:tc>
                  <a:txBody>
                    <a:bodyPr/>
                    <a:lstStyle/>
                    <a:p>
                      <a:pPr indent="0" lvl="0" marL="0" rtl="0" algn="ctr">
                        <a:spcBef>
                          <a:spcPts val="0"/>
                        </a:spcBef>
                        <a:spcAft>
                          <a:spcPts val="0"/>
                        </a:spcAft>
                        <a:buNone/>
                      </a:pPr>
                      <a:r>
                        <a:rPr b="1" lang="en">
                          <a:solidFill>
                            <a:schemeClr val="dk1"/>
                          </a:solidFill>
                        </a:rPr>
                        <a:t>Average Standard Deviation of side length</a:t>
                      </a:r>
                      <a:endParaRPr b="1">
                        <a:solidFill>
                          <a:schemeClr val="dk1"/>
                        </a:solidFill>
                      </a:endParaRPr>
                    </a:p>
                  </a:txBody>
                  <a:tcPr marT="91425" marB="91425" marR="91425" marL="91425" anchor="ctr"/>
                </a:tc>
                <a:tc>
                  <a:txBody>
                    <a:bodyPr/>
                    <a:lstStyle/>
                    <a:p>
                      <a:pPr indent="0" lvl="0" marL="0" rtl="0" algn="ctr">
                        <a:spcBef>
                          <a:spcPts val="0"/>
                        </a:spcBef>
                        <a:spcAft>
                          <a:spcPts val="0"/>
                        </a:spcAft>
                        <a:buNone/>
                      </a:pPr>
                      <a:r>
                        <a:rPr i="1" lang="en"/>
                        <a:t>88.683</a:t>
                      </a:r>
                      <a:endParaRPr i="1"/>
                    </a:p>
                  </a:txBody>
                  <a:tcPr marT="91425" marB="91425" marR="91425" marL="91425" anchor="ctr"/>
                </a:tc>
                <a:tc>
                  <a:txBody>
                    <a:bodyPr/>
                    <a:lstStyle/>
                    <a:p>
                      <a:pPr indent="0" lvl="0" marL="0" rtl="0" algn="ctr">
                        <a:spcBef>
                          <a:spcPts val="0"/>
                        </a:spcBef>
                        <a:spcAft>
                          <a:spcPts val="0"/>
                        </a:spcAft>
                        <a:buNone/>
                      </a:pPr>
                      <a:r>
                        <a:rPr i="1" lang="en"/>
                        <a:t>111.08</a:t>
                      </a:r>
                      <a:endParaRPr i="1"/>
                    </a:p>
                  </a:txBody>
                  <a:tcPr marT="91425" marB="91425" marR="91425" marL="91425" anchor="ctr"/>
                </a:tc>
                <a:tc>
                  <a:txBody>
                    <a:bodyPr/>
                    <a:lstStyle/>
                    <a:p>
                      <a:pPr indent="0" lvl="0" marL="0" rtl="0" algn="ctr">
                        <a:spcBef>
                          <a:spcPts val="0"/>
                        </a:spcBef>
                        <a:spcAft>
                          <a:spcPts val="0"/>
                        </a:spcAft>
                        <a:buNone/>
                      </a:pPr>
                      <a:r>
                        <a:rPr i="1" lang="en"/>
                        <a:t>91.09</a:t>
                      </a:r>
                      <a:endParaRPr i="1"/>
                    </a:p>
                  </a:txBody>
                  <a:tcPr marT="91425" marB="91425" marR="91425" marL="91425" anchor="ctr"/>
                </a:tc>
              </a:tr>
              <a:tr h="381000">
                <a:tc>
                  <a:txBody>
                    <a:bodyPr/>
                    <a:lstStyle/>
                    <a:p>
                      <a:pPr indent="0" lvl="0" marL="0" rtl="0" algn="ctr">
                        <a:spcBef>
                          <a:spcPts val="0"/>
                        </a:spcBef>
                        <a:spcAft>
                          <a:spcPts val="0"/>
                        </a:spcAft>
                        <a:buNone/>
                      </a:pPr>
                      <a:r>
                        <a:rPr b="1" lang="en">
                          <a:solidFill>
                            <a:schemeClr val="dk1"/>
                          </a:solidFill>
                        </a:rPr>
                        <a:t>Average Standard Deviation of distance from centroid</a:t>
                      </a:r>
                      <a:endParaRPr b="1">
                        <a:solidFill>
                          <a:schemeClr val="dk1"/>
                        </a:solidFill>
                      </a:endParaRPr>
                    </a:p>
                  </a:txBody>
                  <a:tcPr marT="91425" marB="91425" marR="91425" marL="91425" anchor="ctr"/>
                </a:tc>
                <a:tc>
                  <a:txBody>
                    <a:bodyPr/>
                    <a:lstStyle/>
                    <a:p>
                      <a:pPr indent="0" lvl="0" marL="0" rtl="0" algn="ctr">
                        <a:spcBef>
                          <a:spcPts val="0"/>
                        </a:spcBef>
                        <a:spcAft>
                          <a:spcPts val="0"/>
                        </a:spcAft>
                        <a:buNone/>
                      </a:pPr>
                      <a:r>
                        <a:rPr i="1" lang="en"/>
                        <a:t>7.906</a:t>
                      </a:r>
                      <a:endParaRPr i="1"/>
                    </a:p>
                  </a:txBody>
                  <a:tcPr marT="91425" marB="91425" marR="91425" marL="91425" anchor="ctr"/>
                </a:tc>
                <a:tc>
                  <a:txBody>
                    <a:bodyPr/>
                    <a:lstStyle/>
                    <a:p>
                      <a:pPr indent="0" lvl="0" marL="0" rtl="0" algn="ctr">
                        <a:spcBef>
                          <a:spcPts val="0"/>
                        </a:spcBef>
                        <a:spcAft>
                          <a:spcPts val="0"/>
                        </a:spcAft>
                        <a:buNone/>
                      </a:pPr>
                      <a:r>
                        <a:rPr i="1" lang="en"/>
                        <a:t>34.123</a:t>
                      </a:r>
                      <a:endParaRPr i="1"/>
                    </a:p>
                  </a:txBody>
                  <a:tcPr marT="91425" marB="91425" marR="91425" marL="91425" anchor="ctr"/>
                </a:tc>
                <a:tc>
                  <a:txBody>
                    <a:bodyPr/>
                    <a:lstStyle/>
                    <a:p>
                      <a:pPr indent="0" lvl="0" marL="0" rtl="0" algn="ctr">
                        <a:spcBef>
                          <a:spcPts val="0"/>
                        </a:spcBef>
                        <a:spcAft>
                          <a:spcPts val="0"/>
                        </a:spcAft>
                        <a:buNone/>
                      </a:pPr>
                      <a:r>
                        <a:rPr i="1" lang="en"/>
                        <a:t>45.067</a:t>
                      </a:r>
                      <a:endParaRPr i="1"/>
                    </a:p>
                  </a:txBody>
                  <a:tcPr marT="91425" marB="91425" marR="91425" marL="91425" anchor="ct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311700" y="167050"/>
            <a:ext cx="8520600" cy="62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u="sng">
                <a:latin typeface="Roboto"/>
                <a:ea typeface="Roboto"/>
                <a:cs typeface="Roboto"/>
                <a:sym typeface="Roboto"/>
              </a:rPr>
              <a:t>Number of corners distribution for each complexity</a:t>
            </a:r>
            <a:endParaRPr b="1" sz="3000" u="sng">
              <a:latin typeface="Roboto"/>
              <a:ea typeface="Roboto"/>
              <a:cs typeface="Roboto"/>
              <a:sym typeface="Roboto"/>
            </a:endParaRPr>
          </a:p>
          <a:p>
            <a:pPr indent="0" lvl="0" marL="0" rtl="0" algn="l">
              <a:spcBef>
                <a:spcPts val="0"/>
              </a:spcBef>
              <a:spcAft>
                <a:spcPts val="0"/>
              </a:spcAft>
              <a:buNone/>
            </a:pPr>
            <a:r>
              <a:t/>
            </a:r>
            <a:endParaRPr sz="3000"/>
          </a:p>
        </p:txBody>
      </p:sp>
      <p:pic>
        <p:nvPicPr>
          <p:cNvPr id="231" name="Google Shape;231;p35"/>
          <p:cNvPicPr preferRelativeResize="0"/>
          <p:nvPr/>
        </p:nvPicPr>
        <p:blipFill>
          <a:blip r:embed="rId3">
            <a:alphaModFix/>
          </a:blip>
          <a:stretch>
            <a:fillRect/>
          </a:stretch>
        </p:blipFill>
        <p:spPr>
          <a:xfrm>
            <a:off x="174925" y="1786725"/>
            <a:ext cx="2724299" cy="2424324"/>
          </a:xfrm>
          <a:prstGeom prst="rect">
            <a:avLst/>
          </a:prstGeom>
          <a:noFill/>
          <a:ln>
            <a:noFill/>
          </a:ln>
        </p:spPr>
      </p:pic>
      <p:pic>
        <p:nvPicPr>
          <p:cNvPr id="232" name="Google Shape;232;p35"/>
          <p:cNvPicPr preferRelativeResize="0"/>
          <p:nvPr/>
        </p:nvPicPr>
        <p:blipFill>
          <a:blip r:embed="rId4">
            <a:alphaModFix/>
          </a:blip>
          <a:stretch>
            <a:fillRect/>
          </a:stretch>
        </p:blipFill>
        <p:spPr>
          <a:xfrm>
            <a:off x="3051625" y="1786725"/>
            <a:ext cx="2865775" cy="2424325"/>
          </a:xfrm>
          <a:prstGeom prst="rect">
            <a:avLst/>
          </a:prstGeom>
          <a:noFill/>
          <a:ln>
            <a:noFill/>
          </a:ln>
        </p:spPr>
      </p:pic>
      <p:pic>
        <p:nvPicPr>
          <p:cNvPr id="233" name="Google Shape;233;p35"/>
          <p:cNvPicPr preferRelativeResize="0"/>
          <p:nvPr/>
        </p:nvPicPr>
        <p:blipFill>
          <a:blip r:embed="rId5">
            <a:alphaModFix/>
          </a:blip>
          <a:stretch>
            <a:fillRect/>
          </a:stretch>
        </p:blipFill>
        <p:spPr>
          <a:xfrm>
            <a:off x="6069800" y="1786725"/>
            <a:ext cx="2921799" cy="24243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311700" y="160650"/>
            <a:ext cx="8520600" cy="682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000" u="sng">
                <a:latin typeface="Roboto"/>
                <a:ea typeface="Roboto"/>
                <a:cs typeface="Roboto"/>
                <a:sym typeface="Roboto"/>
              </a:rPr>
              <a:t>Number of Concave corners distribution for each complexity</a:t>
            </a:r>
            <a:endParaRPr b="1" sz="3000" u="sng">
              <a:latin typeface="Roboto"/>
              <a:ea typeface="Roboto"/>
              <a:cs typeface="Roboto"/>
              <a:sym typeface="Roboto"/>
            </a:endParaRPr>
          </a:p>
          <a:p>
            <a:pPr indent="0" lvl="0" marL="0" rtl="0" algn="l">
              <a:spcBef>
                <a:spcPts val="0"/>
              </a:spcBef>
              <a:spcAft>
                <a:spcPts val="0"/>
              </a:spcAft>
              <a:buNone/>
            </a:pPr>
            <a:r>
              <a:t/>
            </a:r>
            <a:endParaRPr/>
          </a:p>
        </p:txBody>
      </p:sp>
      <p:pic>
        <p:nvPicPr>
          <p:cNvPr id="239" name="Google Shape;239;p36"/>
          <p:cNvPicPr preferRelativeResize="0"/>
          <p:nvPr/>
        </p:nvPicPr>
        <p:blipFill>
          <a:blip r:embed="rId3">
            <a:alphaModFix/>
          </a:blip>
          <a:stretch>
            <a:fillRect/>
          </a:stretch>
        </p:blipFill>
        <p:spPr>
          <a:xfrm>
            <a:off x="163650" y="1748875"/>
            <a:ext cx="2792050" cy="2377700"/>
          </a:xfrm>
          <a:prstGeom prst="rect">
            <a:avLst/>
          </a:prstGeom>
          <a:noFill/>
          <a:ln>
            <a:noFill/>
          </a:ln>
        </p:spPr>
      </p:pic>
      <p:pic>
        <p:nvPicPr>
          <p:cNvPr id="240" name="Google Shape;240;p36"/>
          <p:cNvPicPr preferRelativeResize="0"/>
          <p:nvPr/>
        </p:nvPicPr>
        <p:blipFill>
          <a:blip r:embed="rId4">
            <a:alphaModFix/>
          </a:blip>
          <a:stretch>
            <a:fillRect/>
          </a:stretch>
        </p:blipFill>
        <p:spPr>
          <a:xfrm>
            <a:off x="3108100" y="1748875"/>
            <a:ext cx="2885124" cy="2377700"/>
          </a:xfrm>
          <a:prstGeom prst="rect">
            <a:avLst/>
          </a:prstGeom>
          <a:noFill/>
          <a:ln>
            <a:noFill/>
          </a:ln>
        </p:spPr>
      </p:pic>
      <p:pic>
        <p:nvPicPr>
          <p:cNvPr id="241" name="Google Shape;241;p36"/>
          <p:cNvPicPr preferRelativeResize="0"/>
          <p:nvPr/>
        </p:nvPicPr>
        <p:blipFill>
          <a:blip r:embed="rId5">
            <a:alphaModFix/>
          </a:blip>
          <a:stretch>
            <a:fillRect/>
          </a:stretch>
        </p:blipFill>
        <p:spPr>
          <a:xfrm>
            <a:off x="6145625" y="1748875"/>
            <a:ext cx="2845976" cy="2377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Prediction and </a:t>
            </a:r>
            <a:r>
              <a:rPr lang="en" sz="3500"/>
              <a:t>Retrieval</a:t>
            </a:r>
            <a:r>
              <a:rPr lang="en" sz="3500"/>
              <a:t> of Relevant Prior Layouts</a:t>
            </a:r>
            <a:endParaRPr sz="3500"/>
          </a:p>
        </p:txBody>
      </p:sp>
      <p:sp>
        <p:nvSpPr>
          <p:cNvPr id="247" name="Google Shape;247;p37"/>
          <p:cNvSpPr txBox="1"/>
          <p:nvPr>
            <p:ph idx="1" type="body"/>
          </p:nvPr>
        </p:nvSpPr>
        <p:spPr>
          <a:xfrm>
            <a:off x="4321375" y="0"/>
            <a:ext cx="4822500" cy="51435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t/>
            </a:r>
            <a:endParaRPr sz="1800"/>
          </a:p>
          <a:p>
            <a:pPr indent="-342900" lvl="0" marL="457200" rtl="0" algn="l">
              <a:lnSpc>
                <a:spcPct val="115000"/>
              </a:lnSpc>
              <a:spcBef>
                <a:spcPts val="1200"/>
              </a:spcBef>
              <a:spcAft>
                <a:spcPts val="0"/>
              </a:spcAft>
              <a:buSzPts val="1800"/>
              <a:buChar char="❖"/>
            </a:pPr>
            <a:r>
              <a:rPr lang="en" sz="1800"/>
              <a:t>For this problem, we would want to predict the family which has the highest similarity to the parameters provided</a:t>
            </a:r>
            <a:endParaRPr sz="1800"/>
          </a:p>
          <a:p>
            <a:pPr indent="0" lvl="0" marL="457200" rtl="0" algn="l">
              <a:lnSpc>
                <a:spcPct val="115000"/>
              </a:lnSpc>
              <a:spcBef>
                <a:spcPts val="1200"/>
              </a:spcBef>
              <a:spcAft>
                <a:spcPts val="0"/>
              </a:spcAft>
              <a:buNone/>
            </a:pPr>
            <a:r>
              <a:t/>
            </a:r>
            <a:endParaRPr sz="1800"/>
          </a:p>
          <a:p>
            <a:pPr indent="-342900" lvl="0" marL="457200" rtl="0" algn="l">
              <a:lnSpc>
                <a:spcPct val="115000"/>
              </a:lnSpc>
              <a:spcBef>
                <a:spcPts val="1200"/>
              </a:spcBef>
              <a:spcAft>
                <a:spcPts val="0"/>
              </a:spcAft>
              <a:buSzPts val="1800"/>
              <a:buChar char="❖"/>
            </a:pPr>
            <a:r>
              <a:rPr lang="en" sz="1800"/>
              <a:t>We trained machine learning classifiers on parameters like dimensions of the tight-fitting box, layout area, and complexity with the target variable being the cluster label for the image</a:t>
            </a:r>
            <a:endParaRPr sz="1800"/>
          </a:p>
          <a:p>
            <a:pPr indent="0" lvl="0" marL="457200" rtl="0" algn="l">
              <a:lnSpc>
                <a:spcPct val="115000"/>
              </a:lnSpc>
              <a:spcBef>
                <a:spcPts val="1200"/>
              </a:spcBef>
              <a:spcAft>
                <a:spcPts val="0"/>
              </a:spcAft>
              <a:buNone/>
            </a:pPr>
            <a:r>
              <a:t/>
            </a:r>
            <a:endParaRPr sz="1800"/>
          </a:p>
          <a:p>
            <a:pPr indent="-342900" lvl="0" marL="457200" rtl="0" algn="l">
              <a:lnSpc>
                <a:spcPct val="115000"/>
              </a:lnSpc>
              <a:spcBef>
                <a:spcPts val="1200"/>
              </a:spcBef>
              <a:spcAft>
                <a:spcPts val="0"/>
              </a:spcAft>
              <a:buSzPts val="1800"/>
              <a:buChar char="❖"/>
            </a:pPr>
            <a:r>
              <a:rPr lang="en" sz="1800"/>
              <a:t>We then made a </a:t>
            </a:r>
            <a:r>
              <a:rPr lang="en" sz="1800"/>
              <a:t>retrieval</a:t>
            </a:r>
            <a:r>
              <a:rPr lang="en" sz="1800"/>
              <a:t> system which would display some of designs from the recommend family</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type="title"/>
          </p:nvPr>
        </p:nvSpPr>
        <p:spPr>
          <a:xfrm>
            <a:off x="311725" y="500925"/>
            <a:ext cx="3706500" cy="25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Prediction and Retrieval of Relevant Prior Layouts</a:t>
            </a:r>
            <a:endParaRPr sz="3500"/>
          </a:p>
        </p:txBody>
      </p:sp>
      <p:sp>
        <p:nvSpPr>
          <p:cNvPr id="253" name="Google Shape;253;p38"/>
          <p:cNvSpPr txBox="1"/>
          <p:nvPr>
            <p:ph idx="1" type="body"/>
          </p:nvPr>
        </p:nvSpPr>
        <p:spPr>
          <a:xfrm>
            <a:off x="4644675" y="500925"/>
            <a:ext cx="4426800" cy="40986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sz="1800"/>
          </a:p>
          <a:p>
            <a:pPr indent="-342900" lvl="0" marL="457200" rtl="0" algn="l">
              <a:spcBef>
                <a:spcPts val="1200"/>
              </a:spcBef>
              <a:spcAft>
                <a:spcPts val="0"/>
              </a:spcAft>
              <a:buSzPts val="1800"/>
              <a:buChar char="❖"/>
            </a:pPr>
            <a:r>
              <a:rPr lang="en" sz="1800"/>
              <a:t>We have used OpenCV function minAreaRect to get the dimensions of the Tight-Fitting Box</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We tested three classifiers: Random Forest, Support Vector Machine, and XGBoost, to evaluate their performance on our dataset</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Classification report for each Classifier method</a:t>
            </a:r>
            <a:endParaRPr/>
          </a:p>
        </p:txBody>
      </p:sp>
      <p:sp>
        <p:nvSpPr>
          <p:cNvPr id="259" name="Google Shape;259;p39"/>
          <p:cNvSpPr txBox="1"/>
          <p:nvPr>
            <p:ph idx="1" type="body"/>
          </p:nvPr>
        </p:nvSpPr>
        <p:spPr>
          <a:xfrm>
            <a:off x="804950" y="1505700"/>
            <a:ext cx="2945400" cy="4599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b="1" lang="en" sz="1800"/>
              <a:t>Random Forest Classifier</a:t>
            </a:r>
            <a:endParaRPr b="1" sz="1800"/>
          </a:p>
        </p:txBody>
      </p:sp>
      <p:sp>
        <p:nvSpPr>
          <p:cNvPr id="260" name="Google Shape;260;p39"/>
          <p:cNvSpPr txBox="1"/>
          <p:nvPr>
            <p:ph idx="2" type="body"/>
          </p:nvPr>
        </p:nvSpPr>
        <p:spPr>
          <a:xfrm>
            <a:off x="4467425" y="1505700"/>
            <a:ext cx="4365000" cy="4599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b="1" lang="en" sz="1800"/>
              <a:t>Support Vector Machine Classifier</a:t>
            </a:r>
            <a:endParaRPr b="1"/>
          </a:p>
        </p:txBody>
      </p:sp>
      <p:graphicFrame>
        <p:nvGraphicFramePr>
          <p:cNvPr id="261" name="Google Shape;261;p39"/>
          <p:cNvGraphicFramePr/>
          <p:nvPr/>
        </p:nvGraphicFramePr>
        <p:xfrm>
          <a:off x="100875" y="2080025"/>
          <a:ext cx="3000000" cy="3000000"/>
        </p:xfrm>
        <a:graphic>
          <a:graphicData uri="http://schemas.openxmlformats.org/drawingml/2006/table">
            <a:tbl>
              <a:tblPr>
                <a:noFill/>
                <a:tableStyleId>{C9E74941-8CCF-45F2-ACD3-E6F1142B8C53}</a:tableStyleId>
              </a:tblPr>
              <a:tblGrid>
                <a:gridCol w="1092450"/>
                <a:gridCol w="935950"/>
                <a:gridCol w="654275"/>
                <a:gridCol w="894225"/>
                <a:gridCol w="894225"/>
              </a:tblGrid>
              <a:tr h="381250">
                <a:tc>
                  <a:txBody>
                    <a:bodyPr/>
                    <a:lstStyle/>
                    <a:p>
                      <a:pPr indent="0" lvl="0" marL="0" rtl="0" algn="ctr">
                        <a:spcBef>
                          <a:spcPts val="0"/>
                        </a:spcBef>
                        <a:spcAft>
                          <a:spcPts val="0"/>
                        </a:spcAft>
                        <a:buNone/>
                      </a:pPr>
                      <a:r>
                        <a:rPr lang="en"/>
                        <a:t>Metric</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precision</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recall</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f1-score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support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accuracy</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Macro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Weighted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2" name="Google Shape;262;p39"/>
          <p:cNvSpPr txBox="1"/>
          <p:nvPr/>
        </p:nvSpPr>
        <p:spPr>
          <a:xfrm>
            <a:off x="5124725" y="2455950"/>
            <a:ext cx="4035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graphicFrame>
        <p:nvGraphicFramePr>
          <p:cNvPr id="263" name="Google Shape;263;p39"/>
          <p:cNvGraphicFramePr/>
          <p:nvPr/>
        </p:nvGraphicFramePr>
        <p:xfrm>
          <a:off x="4672875" y="2080025"/>
          <a:ext cx="3000000" cy="3000000"/>
        </p:xfrm>
        <a:graphic>
          <a:graphicData uri="http://schemas.openxmlformats.org/drawingml/2006/table">
            <a:tbl>
              <a:tblPr>
                <a:noFill/>
                <a:tableStyleId>{C9E74941-8CCF-45F2-ACD3-E6F1142B8C53}</a:tableStyleId>
              </a:tblPr>
              <a:tblGrid>
                <a:gridCol w="1092450"/>
                <a:gridCol w="935950"/>
                <a:gridCol w="654275"/>
                <a:gridCol w="894225"/>
                <a:gridCol w="894225"/>
              </a:tblGrid>
              <a:tr h="381250">
                <a:tc>
                  <a:txBody>
                    <a:bodyPr/>
                    <a:lstStyle/>
                    <a:p>
                      <a:pPr indent="0" lvl="0" marL="0" rtl="0" algn="ctr">
                        <a:spcBef>
                          <a:spcPts val="0"/>
                        </a:spcBef>
                        <a:spcAft>
                          <a:spcPts val="0"/>
                        </a:spcAft>
                        <a:buNone/>
                      </a:pPr>
                      <a:r>
                        <a:rPr lang="en"/>
                        <a:t>Metric</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precision</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recall</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f1-score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support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accuracy</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0.15</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Macro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0.08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0.12</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0.07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Weighted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0.08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0.15</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0.08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nvSpPr>
        <p:spPr>
          <a:xfrm>
            <a:off x="5367000" y="667725"/>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2"/>
                </a:solidFill>
                <a:latin typeface="Roboto"/>
                <a:ea typeface="Roboto"/>
                <a:cs typeface="Roboto"/>
                <a:sym typeface="Roboto"/>
              </a:rPr>
              <a:t>XGBoost</a:t>
            </a:r>
            <a:r>
              <a:rPr b="1" lang="en" sz="1800">
                <a:solidFill>
                  <a:schemeClr val="dk2"/>
                </a:solidFill>
                <a:latin typeface="Roboto"/>
                <a:ea typeface="Roboto"/>
                <a:cs typeface="Roboto"/>
                <a:sym typeface="Roboto"/>
              </a:rPr>
              <a:t> Classifier</a:t>
            </a:r>
            <a:endParaRPr b="1" sz="1800">
              <a:solidFill>
                <a:schemeClr val="dk2"/>
              </a:solidFill>
              <a:latin typeface="Roboto"/>
              <a:ea typeface="Roboto"/>
              <a:cs typeface="Roboto"/>
              <a:sym typeface="Roboto"/>
            </a:endParaRPr>
          </a:p>
        </p:txBody>
      </p:sp>
      <p:graphicFrame>
        <p:nvGraphicFramePr>
          <p:cNvPr id="269" name="Google Shape;269;p40"/>
          <p:cNvGraphicFramePr/>
          <p:nvPr/>
        </p:nvGraphicFramePr>
        <p:xfrm>
          <a:off x="4631425" y="1566000"/>
          <a:ext cx="3000000" cy="3000000"/>
        </p:xfrm>
        <a:graphic>
          <a:graphicData uri="http://schemas.openxmlformats.org/drawingml/2006/table">
            <a:tbl>
              <a:tblPr>
                <a:noFill/>
                <a:tableStyleId>{C9E74941-8CCF-45F2-ACD3-E6F1142B8C53}</a:tableStyleId>
              </a:tblPr>
              <a:tblGrid>
                <a:gridCol w="1092450"/>
                <a:gridCol w="935950"/>
                <a:gridCol w="654275"/>
                <a:gridCol w="894225"/>
                <a:gridCol w="894225"/>
              </a:tblGrid>
              <a:tr h="381250">
                <a:tc>
                  <a:txBody>
                    <a:bodyPr/>
                    <a:lstStyle/>
                    <a:p>
                      <a:pPr indent="0" lvl="0" marL="0" rtl="0" algn="ctr">
                        <a:spcBef>
                          <a:spcPts val="0"/>
                        </a:spcBef>
                        <a:spcAft>
                          <a:spcPts val="0"/>
                        </a:spcAft>
                        <a:buNone/>
                      </a:pPr>
                      <a:r>
                        <a:rPr lang="en"/>
                        <a:t>Metric</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precision</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recall</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f1-score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support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accuracy</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Macro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250">
                <a:tc>
                  <a:txBody>
                    <a:bodyPr/>
                    <a:lstStyle/>
                    <a:p>
                      <a:pPr indent="0" lvl="0" marL="0" rtl="0" algn="ctr">
                        <a:spcBef>
                          <a:spcPts val="0"/>
                        </a:spcBef>
                        <a:spcAft>
                          <a:spcPts val="0"/>
                        </a:spcAft>
                        <a:buNone/>
                      </a:pPr>
                      <a:r>
                        <a:rPr lang="en"/>
                        <a:t>Weighted average</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0.98</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0.97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237</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0" name="Google Shape;270;p40"/>
          <p:cNvSpPr txBox="1"/>
          <p:nvPr>
            <p:ph type="title"/>
          </p:nvPr>
        </p:nvSpPr>
        <p:spPr>
          <a:xfrm>
            <a:off x="311300" y="500925"/>
            <a:ext cx="3704400" cy="413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53">
              <a:latin typeface="Roboto"/>
              <a:ea typeface="Roboto"/>
              <a:cs typeface="Roboto"/>
              <a:sym typeface="Roboto"/>
            </a:endParaRPr>
          </a:p>
          <a:p>
            <a:pPr indent="0" lvl="0" marL="0" rtl="0" algn="l">
              <a:spcBef>
                <a:spcPts val="0"/>
              </a:spcBef>
              <a:spcAft>
                <a:spcPts val="0"/>
              </a:spcAft>
              <a:buSzPts val="990"/>
              <a:buNone/>
            </a:pPr>
            <a:r>
              <a:t/>
            </a:r>
            <a:endParaRPr sz="2020">
              <a:latin typeface="Roboto"/>
              <a:ea typeface="Roboto"/>
              <a:cs typeface="Roboto"/>
              <a:sym typeface="Roboto"/>
            </a:endParaRPr>
          </a:p>
          <a:p>
            <a:pPr indent="0" lvl="0" marL="0" rtl="0" algn="l">
              <a:spcBef>
                <a:spcPts val="0"/>
              </a:spcBef>
              <a:spcAft>
                <a:spcPts val="0"/>
              </a:spcAft>
              <a:buSzPts val="990"/>
              <a:buNone/>
            </a:pPr>
            <a:r>
              <a:rPr lang="en" sz="2242">
                <a:latin typeface="Roboto"/>
                <a:ea typeface="Roboto"/>
                <a:cs typeface="Roboto"/>
                <a:sym typeface="Roboto"/>
              </a:rPr>
              <a:t>Based on the final values of performance parameters, we can say that XGBoost and Random Forest classifiers give us the best results while support vector machine isn’t able to give good prediction.</a:t>
            </a:r>
            <a:endParaRPr sz="2242">
              <a:latin typeface="Roboto"/>
              <a:ea typeface="Roboto"/>
              <a:cs typeface="Roboto"/>
              <a:sym typeface="Roboto"/>
            </a:endParaRPr>
          </a:p>
        </p:txBody>
      </p:sp>
      <p:sp>
        <p:nvSpPr>
          <p:cNvPr id="271" name="Google Shape;271;p40"/>
          <p:cNvSpPr txBox="1"/>
          <p:nvPr/>
        </p:nvSpPr>
        <p:spPr>
          <a:xfrm>
            <a:off x="4689925" y="3918850"/>
            <a:ext cx="4412400" cy="870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Precision: Accuracy of positive predictions.</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Recall: Coverage of actual positive cases.</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F1-score: Harmonic mean of precision and recall.</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Support: Number of true instances for each class.</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type="title"/>
          </p:nvPr>
        </p:nvSpPr>
        <p:spPr>
          <a:xfrm>
            <a:off x="1164425" y="187977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sp>
        <p:nvSpPr>
          <p:cNvPr id="277" name="Google Shape;277;p4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Classification of Designs: We grouped designs into families based on key features, ensuring each family had similar designs.</a:t>
            </a:r>
            <a:endParaRPr b="1" sz="1800"/>
          </a:p>
          <a:p>
            <a:pPr indent="0" lvl="0" marL="0" rtl="0" algn="l">
              <a:spcBef>
                <a:spcPts val="1200"/>
              </a:spcBef>
              <a:spcAft>
                <a:spcPts val="0"/>
              </a:spcAft>
              <a:buNone/>
            </a:pPr>
            <a:r>
              <a:rPr b="1" lang="en" sz="1800"/>
              <a:t>Complexity Categorization: Assigned complexity levels to these families.</a:t>
            </a:r>
            <a:endParaRPr b="1" sz="1800"/>
          </a:p>
          <a:p>
            <a:pPr indent="0" lvl="0" marL="0" rtl="0" algn="l">
              <a:spcBef>
                <a:spcPts val="1200"/>
              </a:spcBef>
              <a:spcAft>
                <a:spcPts val="0"/>
              </a:spcAft>
              <a:buNone/>
            </a:pPr>
            <a:r>
              <a:rPr b="1" lang="en" sz="1800"/>
              <a:t>Recommendation System: Developed a machine learning-based system to match new designs with the best-fitting family templates.</a:t>
            </a:r>
            <a:endParaRPr b="1" sz="1800"/>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type="title"/>
          </p:nvPr>
        </p:nvSpPr>
        <p:spPr>
          <a:xfrm>
            <a:off x="1890450" y="1476300"/>
            <a:ext cx="5363100" cy="2190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6000"/>
              <a:t>THANK YOU!</a:t>
            </a:r>
            <a:endParaRPr b="1" sz="6000"/>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